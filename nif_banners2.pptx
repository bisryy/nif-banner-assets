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10250" y="-3600450"/>
            <a:ext cx="8953500" cy="8953500"/>
          </a:xfrm>
          <a:prstGeom prst="ellipse">
            <a:avLst/>
          </a:prstGeom>
          <a:noFill/>
          <a:ln w="25400">
            <a:solidFill>
              <a:srgbClr val="2A3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8500" y="-2362200"/>
            <a:ext cx="6477000" cy="6477000"/>
          </a:xfrm>
          <a:prstGeom prst="ellipse">
            <a:avLst/>
          </a:prstGeom>
          <a:noFill/>
          <a:ln w="19050">
            <a:solidFill>
              <a:srgbClr val="2A3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39125" y="-1171575"/>
            <a:ext cx="4095750" cy="4095750"/>
          </a:xfrm>
          <a:prstGeom prst="ellipse">
            <a:avLst/>
          </a:prstGeom>
          <a:noFill/>
          <a:ln w="17780">
            <a:solidFill>
              <a:srgbClr val="C8A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287000" cy="83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1553441" cy="438150"/>
          </a:xfrm>
          <a:prstGeom prst="rect">
            <a:avLst/>
          </a:prstGeom>
        </p:spPr>
      </p:pic>
      <p:pic>
        <p:nvPicPr>
          <p:cNvPr id="8" name="Picture 7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163" y="266700"/>
            <a:ext cx="1576437" cy="36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29000" y="228600"/>
            <a:ext cx="3429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142145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C8A142"/>
                </a:solidFill>
                <a:latin typeface="Arial"/>
              </a:rPr>
              <a:t>NIF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838200"/>
            <a:ext cx="10287000" cy="38100"/>
          </a:xfrm>
          <a:prstGeom prst="rect">
            <a:avLst/>
          </a:prstGeom>
          <a:solidFill>
            <a:srgbClr val="C8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1428750"/>
            <a:ext cx="3267075" cy="381000"/>
          </a:xfrm>
          <a:prstGeom prst="roundRect">
            <a:avLst/>
          </a:prstGeom>
          <a:solidFill>
            <a:srgbClr val="C8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1428750"/>
            <a:ext cx="3267075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01B3A"/>
                </a:solidFill>
                <a:latin typeface="Arial"/>
              </a:rPr>
              <a:t>DAY 1   ·   OPENING SESSION   ·   08:30–10:30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2019300"/>
            <a:ext cx="895350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000" b="1" i="0">
                <a:solidFill>
                  <a:srgbClr val="FFFFFF"/>
                </a:solidFill>
                <a:latin typeface="Arial"/>
              </a:rPr>
              <a:t>Opening Plenary &amp;
Ministerial Keynote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5433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D9B555"/>
                </a:solidFill>
                <a:latin typeface="Arial"/>
              </a:rPr>
              <a:t>“The National Innovation Ecosystem in Ethiopia: Gaps &amp; Horizons”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3053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3C9D6"/>
                </a:solidFill>
                <a:latin typeface="Arial"/>
              </a:rPr>
              <a:t>Moderator: Mr. Abebe Dutoro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743450"/>
            <a:ext cx="1047750" cy="38100"/>
          </a:xfrm>
          <a:prstGeom prst="rect">
            <a:avLst/>
          </a:prstGeom>
          <a:solidFill>
            <a:srgbClr val="C8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6572250"/>
            <a:ext cx="8572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9B555"/>
                </a:solidFill>
                <a:latin typeface="Arial"/>
              </a:rPr>
              <a:t>PLENARY DIGNITARIES</a:t>
            </a:r>
          </a:p>
        </p:txBody>
      </p:sp>
      <p:sp>
        <p:nvSpPr>
          <p:cNvPr id="18" name="Oval 17"/>
          <p:cNvSpPr/>
          <p:nvPr/>
        </p:nvSpPr>
        <p:spPr>
          <a:xfrm>
            <a:off x="609600" y="7029450"/>
            <a:ext cx="1219200" cy="121920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7029450"/>
            <a:ext cx="1219200" cy="121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075" y="8362950"/>
            <a:ext cx="20002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Dr. Dereje Engida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President, AASTU</a:t>
            </a:r>
          </a:p>
        </p:txBody>
      </p:sp>
      <p:sp>
        <p:nvSpPr>
          <p:cNvPr id="21" name="Oval 20"/>
          <p:cNvSpPr/>
          <p:nvPr/>
        </p:nvSpPr>
        <p:spPr>
          <a:xfrm>
            <a:off x="3225800" y="7029450"/>
            <a:ext cx="1219200" cy="121920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5800" y="7029450"/>
            <a:ext cx="1219200" cy="121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5275" y="8362950"/>
            <a:ext cx="20002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Dr. Abreham Debebe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VP RTT, AASTU</a:t>
            </a:r>
          </a:p>
        </p:txBody>
      </p:sp>
      <p:sp>
        <p:nvSpPr>
          <p:cNvPr id="24" name="Oval 23"/>
          <p:cNvSpPr/>
          <p:nvPr/>
        </p:nvSpPr>
        <p:spPr>
          <a:xfrm>
            <a:off x="5842000" y="7029450"/>
            <a:ext cx="1219200" cy="121920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42000" y="7029450"/>
            <a:ext cx="1219200" cy="121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1475" y="8362950"/>
            <a:ext cx="20002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H.E. Muferiat Kamil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Min. Labour &amp; Skills</a:t>
            </a:r>
          </a:p>
        </p:txBody>
      </p:sp>
      <p:sp>
        <p:nvSpPr>
          <p:cNvPr id="27" name="Oval 26"/>
          <p:cNvSpPr/>
          <p:nvPr/>
        </p:nvSpPr>
        <p:spPr>
          <a:xfrm>
            <a:off x="8458200" y="7029450"/>
            <a:ext cx="1219200" cy="121920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7029450"/>
            <a:ext cx="1219200" cy="121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7675" y="8362950"/>
            <a:ext cx="20002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H.E. Belete Molla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Min. of Industry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9563100"/>
            <a:ext cx="9067800" cy="9525"/>
          </a:xfrm>
          <a:prstGeom prst="rect">
            <a:avLst/>
          </a:prstGeom>
          <a:solidFill>
            <a:srgbClr val="334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" y="9734550"/>
            <a:ext cx="609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3C9D6"/>
                </a:solidFill>
                <a:latin typeface="Arial"/>
              </a:rPr>
              <a:t>IIEH, AASTU   ·   Addis Ababa, Ethiopia   ·   June 23–24,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1250" y="9734550"/>
            <a:ext cx="34861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D9B555"/>
                </a:solidFill>
                <a:latin typeface="Arial"/>
              </a:rPr>
              <a:t>Innovation Without Commercialization is Just an Idea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10250" y="-3600450"/>
            <a:ext cx="8953500" cy="8953500"/>
          </a:xfrm>
          <a:prstGeom prst="ellipse">
            <a:avLst/>
          </a:prstGeom>
          <a:noFill/>
          <a:ln w="25400">
            <a:solidFill>
              <a:srgbClr val="2A3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8500" y="-2362200"/>
            <a:ext cx="6477000" cy="6477000"/>
          </a:xfrm>
          <a:prstGeom prst="ellipse">
            <a:avLst/>
          </a:prstGeom>
          <a:noFill/>
          <a:ln w="19050">
            <a:solidFill>
              <a:srgbClr val="2A3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39125" y="-1171575"/>
            <a:ext cx="4095750" cy="4095750"/>
          </a:xfrm>
          <a:prstGeom prst="ellipse">
            <a:avLst/>
          </a:prstGeom>
          <a:noFill/>
          <a:ln w="17780">
            <a:solidFill>
              <a:srgbClr val="C8A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287000" cy="83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1553441" cy="438150"/>
          </a:xfrm>
          <a:prstGeom prst="rect">
            <a:avLst/>
          </a:prstGeom>
        </p:spPr>
      </p:pic>
      <p:pic>
        <p:nvPicPr>
          <p:cNvPr id="8" name="Picture 7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163" y="266700"/>
            <a:ext cx="1576437" cy="36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29000" y="228600"/>
            <a:ext cx="3429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142145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C8A142"/>
                </a:solidFill>
                <a:latin typeface="Arial"/>
              </a:rPr>
              <a:t>NIF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838200"/>
            <a:ext cx="10287000" cy="38100"/>
          </a:xfrm>
          <a:prstGeom prst="rect">
            <a:avLst/>
          </a:prstGeom>
          <a:solidFill>
            <a:srgbClr val="C8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1428750"/>
            <a:ext cx="2867025" cy="381000"/>
          </a:xfrm>
          <a:prstGeom prst="roundRect">
            <a:avLst/>
          </a:prstGeom>
          <a:solidFill>
            <a:srgbClr val="C8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1428750"/>
            <a:ext cx="2867025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01B3A"/>
                </a:solidFill>
                <a:latin typeface="Arial"/>
              </a:rPr>
              <a:t>DAY 1   ·   THEME ONE   ·   10:30–12:30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2019300"/>
            <a:ext cx="895350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FFFFFF"/>
                </a:solidFill>
                <a:latin typeface="Arial"/>
              </a:rPr>
              <a:t>Breaking the
Valley of Death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60045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D9B555"/>
                </a:solidFill>
                <a:latin typeface="Arial"/>
              </a:rPr>
              <a:t>Financing Universities’ Innovation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3053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3C9D6"/>
                </a:solidFill>
                <a:latin typeface="Arial"/>
              </a:rPr>
              <a:t>Moderated by Dr. Abraham Abebe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743450"/>
            <a:ext cx="1047750" cy="38100"/>
          </a:xfrm>
          <a:prstGeom prst="rect">
            <a:avLst/>
          </a:prstGeom>
          <a:solidFill>
            <a:srgbClr val="C8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6572250"/>
            <a:ext cx="8572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9B555"/>
                </a:solidFill>
                <a:latin typeface="Arial"/>
              </a:rPr>
              <a:t>PANEL DISCUSSION</a:t>
            </a:r>
          </a:p>
        </p:txBody>
      </p:sp>
      <p:sp>
        <p:nvSpPr>
          <p:cNvPr id="18" name="Oval 17"/>
          <p:cNvSpPr/>
          <p:nvPr/>
        </p:nvSpPr>
        <p:spPr>
          <a:xfrm>
            <a:off x="609600" y="7029450"/>
            <a:ext cx="933450" cy="93345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7029450"/>
            <a:ext cx="9334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465" y="8077200"/>
            <a:ext cx="15697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Mr. Sinateyhu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EIPA · Dir. Gen.</a:t>
            </a:r>
          </a:p>
        </p:txBody>
      </p:sp>
      <p:sp>
        <p:nvSpPr>
          <p:cNvPr id="21" name="Oval 20"/>
          <p:cNvSpPr/>
          <p:nvPr/>
        </p:nvSpPr>
        <p:spPr>
          <a:xfrm>
            <a:off x="2236470" y="7029450"/>
            <a:ext cx="933450" cy="93345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36470" y="7029450"/>
            <a:ext cx="9334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18335" y="8077200"/>
            <a:ext cx="15697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CBE Leadership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Dev. Financing</a:t>
            </a:r>
          </a:p>
        </p:txBody>
      </p:sp>
      <p:sp>
        <p:nvSpPr>
          <p:cNvPr id="24" name="Oval 23"/>
          <p:cNvSpPr/>
          <p:nvPr/>
        </p:nvSpPr>
        <p:spPr>
          <a:xfrm>
            <a:off x="3863340" y="7029450"/>
            <a:ext cx="933450" cy="93345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63340" y="7029450"/>
            <a:ext cx="9334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5205" y="8077200"/>
            <a:ext cx="15697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Ministry of Education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Higher-Ed</a:t>
            </a:r>
          </a:p>
        </p:txBody>
      </p:sp>
      <p:sp>
        <p:nvSpPr>
          <p:cNvPr id="27" name="Oval 26"/>
          <p:cNvSpPr/>
          <p:nvPr/>
        </p:nvSpPr>
        <p:spPr>
          <a:xfrm>
            <a:off x="5490210" y="7029450"/>
            <a:ext cx="933450" cy="93345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90210" y="7029450"/>
            <a:ext cx="9334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2075" y="8077200"/>
            <a:ext cx="15697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Dr. Solomon Kiros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African Union</a:t>
            </a:r>
          </a:p>
        </p:txBody>
      </p:sp>
      <p:sp>
        <p:nvSpPr>
          <p:cNvPr id="30" name="Oval 29"/>
          <p:cNvSpPr/>
          <p:nvPr/>
        </p:nvSpPr>
        <p:spPr>
          <a:xfrm>
            <a:off x="7117080" y="7029450"/>
            <a:ext cx="933450" cy="93345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17080" y="7029450"/>
            <a:ext cx="9334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8945" y="8077200"/>
            <a:ext cx="15697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Boru Shana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Deputy CEO, EDI</a:t>
            </a:r>
          </a:p>
        </p:txBody>
      </p:sp>
      <p:sp>
        <p:nvSpPr>
          <p:cNvPr id="33" name="Oval 32"/>
          <p:cNvSpPr/>
          <p:nvPr/>
        </p:nvSpPr>
        <p:spPr>
          <a:xfrm>
            <a:off x="8743950" y="7029450"/>
            <a:ext cx="933450" cy="93345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43950" y="7029450"/>
            <a:ext cx="9334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5815" y="8077200"/>
            <a:ext cx="15697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Dr. Eleni Gabre-Madhin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BlueMoon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" y="9563100"/>
            <a:ext cx="9067800" cy="9525"/>
          </a:xfrm>
          <a:prstGeom prst="rect">
            <a:avLst/>
          </a:prstGeom>
          <a:solidFill>
            <a:srgbClr val="334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9734550"/>
            <a:ext cx="609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3C9D6"/>
                </a:solidFill>
                <a:latin typeface="Arial"/>
              </a:rPr>
              <a:t>IIEH, AASTU   ·   Addis Ababa, Ethiopia   ·   June 23–24,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1250" y="9734550"/>
            <a:ext cx="34861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D9B555"/>
                </a:solidFill>
                <a:latin typeface="Arial"/>
              </a:rPr>
              <a:t>Innovation Without Commercialization is Just an Idea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10250" y="-3600450"/>
            <a:ext cx="8953500" cy="8953500"/>
          </a:xfrm>
          <a:prstGeom prst="ellipse">
            <a:avLst/>
          </a:prstGeom>
          <a:noFill/>
          <a:ln w="25400">
            <a:solidFill>
              <a:srgbClr val="2A3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8500" y="-2362200"/>
            <a:ext cx="6477000" cy="6477000"/>
          </a:xfrm>
          <a:prstGeom prst="ellipse">
            <a:avLst/>
          </a:prstGeom>
          <a:noFill/>
          <a:ln w="19050">
            <a:solidFill>
              <a:srgbClr val="2A3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39125" y="-1171575"/>
            <a:ext cx="4095750" cy="4095750"/>
          </a:xfrm>
          <a:prstGeom prst="ellipse">
            <a:avLst/>
          </a:prstGeom>
          <a:noFill/>
          <a:ln w="17780">
            <a:solidFill>
              <a:srgbClr val="C8A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287000" cy="83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1553441" cy="438150"/>
          </a:xfrm>
          <a:prstGeom prst="rect">
            <a:avLst/>
          </a:prstGeom>
        </p:spPr>
      </p:pic>
      <p:pic>
        <p:nvPicPr>
          <p:cNvPr id="8" name="Picture 7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163" y="266700"/>
            <a:ext cx="1576437" cy="36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29000" y="228600"/>
            <a:ext cx="3429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142145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C8A142"/>
                </a:solidFill>
                <a:latin typeface="Arial"/>
              </a:rPr>
              <a:t>NIF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838200"/>
            <a:ext cx="10287000" cy="38100"/>
          </a:xfrm>
          <a:prstGeom prst="rect">
            <a:avLst/>
          </a:prstGeom>
          <a:solidFill>
            <a:srgbClr val="C8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1428750"/>
            <a:ext cx="2867025" cy="381000"/>
          </a:xfrm>
          <a:prstGeom prst="roundRect">
            <a:avLst/>
          </a:prstGeom>
          <a:solidFill>
            <a:srgbClr val="C8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1428750"/>
            <a:ext cx="2867025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01B3A"/>
                </a:solidFill>
                <a:latin typeface="Arial"/>
              </a:rPr>
              <a:t>DAY 1   ·   THEME TWO   ·   13:30–16:30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2019300"/>
            <a:ext cx="895350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500" b="1" i="0">
                <a:solidFill>
                  <a:srgbClr val="FFFFFF"/>
                </a:solidFill>
                <a:latin typeface="Arial"/>
              </a:rPr>
              <a:t>Fintech, Sandboxes
&amp; Digital Scale-ups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5433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D9B555"/>
                </a:solidFill>
                <a:latin typeface="Arial"/>
              </a:rPr>
              <a:t>Regulatory Sandboxes, Venture Capital &amp; Commercialization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3053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3C9D6"/>
                </a:solidFill>
                <a:latin typeface="Arial"/>
              </a:rPr>
              <a:t>Moderated by Dr. Beakal Gizachew · Kifiya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743450"/>
            <a:ext cx="1047750" cy="38100"/>
          </a:xfrm>
          <a:prstGeom prst="rect">
            <a:avLst/>
          </a:prstGeom>
          <a:solidFill>
            <a:srgbClr val="C8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6572250"/>
            <a:ext cx="8572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9B555"/>
                </a:solidFill>
                <a:latin typeface="Arial"/>
              </a:rPr>
              <a:t>PANEL DISCUSSION</a:t>
            </a:r>
          </a:p>
        </p:txBody>
      </p:sp>
      <p:sp>
        <p:nvSpPr>
          <p:cNvPr id="18" name="Oval 17"/>
          <p:cNvSpPr/>
          <p:nvPr/>
        </p:nvSpPr>
        <p:spPr>
          <a:xfrm>
            <a:off x="609600" y="7029450"/>
            <a:ext cx="933450" cy="93345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7029450"/>
            <a:ext cx="9334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465" y="8077200"/>
            <a:ext cx="15697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National Bank of Ethiopia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Reg. Framework</a:t>
            </a:r>
          </a:p>
        </p:txBody>
      </p:sp>
      <p:sp>
        <p:nvSpPr>
          <p:cNvPr id="21" name="Oval 20"/>
          <p:cNvSpPr/>
          <p:nvPr/>
        </p:nvSpPr>
        <p:spPr>
          <a:xfrm>
            <a:off x="2236470" y="7029450"/>
            <a:ext cx="933450" cy="93345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36470" y="7029450"/>
            <a:ext cx="9334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18335" y="8077200"/>
            <a:ext cx="15697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Innovative Finance Lab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UNDP</a:t>
            </a:r>
          </a:p>
        </p:txBody>
      </p:sp>
      <p:sp>
        <p:nvSpPr>
          <p:cNvPr id="24" name="Oval 23"/>
          <p:cNvSpPr/>
          <p:nvPr/>
        </p:nvSpPr>
        <p:spPr>
          <a:xfrm>
            <a:off x="3863340" y="7029450"/>
            <a:ext cx="933450" cy="93345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63340" y="7029450"/>
            <a:ext cx="9334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5205" y="8077200"/>
            <a:ext cx="15697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Ministry of Innovation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Policy</a:t>
            </a:r>
          </a:p>
        </p:txBody>
      </p:sp>
      <p:sp>
        <p:nvSpPr>
          <p:cNvPr id="27" name="Oval 26"/>
          <p:cNvSpPr/>
          <p:nvPr/>
        </p:nvSpPr>
        <p:spPr>
          <a:xfrm>
            <a:off x="5490210" y="7029450"/>
            <a:ext cx="933450" cy="93345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90210" y="7029450"/>
            <a:ext cx="9334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2075" y="8077200"/>
            <a:ext cx="15697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MIDROC Ethiopia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Corporate</a:t>
            </a:r>
          </a:p>
        </p:txBody>
      </p:sp>
      <p:sp>
        <p:nvSpPr>
          <p:cNvPr id="30" name="Oval 29"/>
          <p:cNvSpPr/>
          <p:nvPr/>
        </p:nvSpPr>
        <p:spPr>
          <a:xfrm>
            <a:off x="7117080" y="7029450"/>
            <a:ext cx="933450" cy="93345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17080" y="7029450"/>
            <a:ext cx="9334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8945" y="8077200"/>
            <a:ext cx="15697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Kifiya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Tech Executive</a:t>
            </a:r>
          </a:p>
        </p:txBody>
      </p:sp>
      <p:sp>
        <p:nvSpPr>
          <p:cNvPr id="33" name="Oval 32"/>
          <p:cNvSpPr/>
          <p:nvPr/>
        </p:nvSpPr>
        <p:spPr>
          <a:xfrm>
            <a:off x="8743950" y="7029450"/>
            <a:ext cx="933450" cy="93345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43950" y="7029450"/>
            <a:ext cx="9334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PHOTO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5815" y="8077200"/>
            <a:ext cx="15697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Hasab AI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AI Innovator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" y="9563100"/>
            <a:ext cx="9067800" cy="9525"/>
          </a:xfrm>
          <a:prstGeom prst="rect">
            <a:avLst/>
          </a:prstGeom>
          <a:solidFill>
            <a:srgbClr val="334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9734550"/>
            <a:ext cx="609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3C9D6"/>
                </a:solidFill>
                <a:latin typeface="Arial"/>
              </a:rPr>
              <a:t>IIEH, AASTU   ·   Addis Ababa, Ethiopia   ·   June 23–24,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1250" y="9734550"/>
            <a:ext cx="34861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D9B555"/>
                </a:solidFill>
                <a:latin typeface="Arial"/>
              </a:rPr>
              <a:t>Innovation Without Commercialization is Just an Idea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10250" y="-3600450"/>
            <a:ext cx="8953500" cy="8953500"/>
          </a:xfrm>
          <a:prstGeom prst="ellipse">
            <a:avLst/>
          </a:prstGeom>
          <a:noFill/>
          <a:ln w="25400">
            <a:solidFill>
              <a:srgbClr val="2A3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8500" y="-2362200"/>
            <a:ext cx="6477000" cy="6477000"/>
          </a:xfrm>
          <a:prstGeom prst="ellipse">
            <a:avLst/>
          </a:prstGeom>
          <a:noFill/>
          <a:ln w="19050">
            <a:solidFill>
              <a:srgbClr val="2A3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39125" y="-1171575"/>
            <a:ext cx="4095750" cy="4095750"/>
          </a:xfrm>
          <a:prstGeom prst="ellipse">
            <a:avLst/>
          </a:prstGeom>
          <a:noFill/>
          <a:ln w="17780">
            <a:solidFill>
              <a:srgbClr val="C8A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287000" cy="83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1553441" cy="438150"/>
          </a:xfrm>
          <a:prstGeom prst="rect">
            <a:avLst/>
          </a:prstGeom>
        </p:spPr>
      </p:pic>
      <p:pic>
        <p:nvPicPr>
          <p:cNvPr id="8" name="Picture 7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163" y="266700"/>
            <a:ext cx="1576437" cy="36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29000" y="228600"/>
            <a:ext cx="3429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142145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C8A142"/>
                </a:solidFill>
                <a:latin typeface="Arial"/>
              </a:rPr>
              <a:t>NIF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838200"/>
            <a:ext cx="10287000" cy="38100"/>
          </a:xfrm>
          <a:prstGeom prst="rect">
            <a:avLst/>
          </a:prstGeom>
          <a:solidFill>
            <a:srgbClr val="C8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1428750"/>
            <a:ext cx="3267075" cy="381000"/>
          </a:xfrm>
          <a:prstGeom prst="roundRect">
            <a:avLst/>
          </a:prstGeom>
          <a:solidFill>
            <a:srgbClr val="C8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1428750"/>
            <a:ext cx="3267075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01B3A"/>
                </a:solidFill>
                <a:latin typeface="Arial"/>
              </a:rPr>
              <a:t>DAY 2   ·   MORNING SESSION   ·   08:30–12:30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2019300"/>
            <a:ext cx="895350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National Startup
Pitch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5433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D9B555"/>
                </a:solidFill>
                <a:latin typeface="Arial"/>
              </a:rPr>
              <a:t>10 Finalists · Grand Final Pitching Block &amp; AASTU Innovation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3053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3C9D6"/>
                </a:solidFill>
                <a:latin typeface="Arial"/>
              </a:rPr>
              <a:t>Moderator: Emabet  ·  Judges: AASTU, UNDP, GIZ, EDI &amp; African VC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743450"/>
            <a:ext cx="1047750" cy="38100"/>
          </a:xfrm>
          <a:prstGeom prst="rect">
            <a:avLst/>
          </a:prstGeom>
          <a:solidFill>
            <a:srgbClr val="C8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6572250"/>
            <a:ext cx="8572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9B555"/>
                </a:solidFill>
                <a:latin typeface="Arial"/>
              </a:rPr>
              <a:t>FEATURED FINALISTS</a:t>
            </a:r>
          </a:p>
        </p:txBody>
      </p:sp>
      <p:sp>
        <p:nvSpPr>
          <p:cNvPr id="18" name="Oval 17"/>
          <p:cNvSpPr/>
          <p:nvPr/>
        </p:nvSpPr>
        <p:spPr>
          <a:xfrm>
            <a:off x="609600" y="7029450"/>
            <a:ext cx="1066800" cy="106680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7029450"/>
            <a:ext cx="1066800" cy="1066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LOGO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450" y="8210550"/>
            <a:ext cx="19431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Meftihe Fertilizer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Agri-Tech</a:t>
            </a:r>
          </a:p>
        </p:txBody>
      </p:sp>
      <p:sp>
        <p:nvSpPr>
          <p:cNvPr id="21" name="Oval 20"/>
          <p:cNvSpPr/>
          <p:nvPr/>
        </p:nvSpPr>
        <p:spPr>
          <a:xfrm>
            <a:off x="2609850" y="7029450"/>
            <a:ext cx="1066800" cy="106680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9850" y="7029450"/>
            <a:ext cx="1066800" cy="1066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LOGO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1700" y="8210550"/>
            <a:ext cx="19431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Markon Packaging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Manufacturing</a:t>
            </a:r>
          </a:p>
        </p:txBody>
      </p:sp>
      <p:sp>
        <p:nvSpPr>
          <p:cNvPr id="24" name="Oval 23"/>
          <p:cNvSpPr/>
          <p:nvPr/>
        </p:nvSpPr>
        <p:spPr>
          <a:xfrm>
            <a:off x="4610100" y="7029450"/>
            <a:ext cx="1066800" cy="106680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0100" y="7029450"/>
            <a:ext cx="1066800" cy="1066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LOGO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1950" y="8210550"/>
            <a:ext cx="19431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SATEV Group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Green Energy</a:t>
            </a:r>
          </a:p>
        </p:txBody>
      </p:sp>
      <p:sp>
        <p:nvSpPr>
          <p:cNvPr id="27" name="Oval 26"/>
          <p:cNvSpPr/>
          <p:nvPr/>
        </p:nvSpPr>
        <p:spPr>
          <a:xfrm>
            <a:off x="6610350" y="7029450"/>
            <a:ext cx="1066800" cy="106680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0350" y="7029450"/>
            <a:ext cx="1066800" cy="1066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LOGO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8210550"/>
            <a:ext cx="19431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AASTU Health-Tech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Health-Tech</a:t>
            </a:r>
          </a:p>
        </p:txBody>
      </p:sp>
      <p:sp>
        <p:nvSpPr>
          <p:cNvPr id="30" name="Oval 29"/>
          <p:cNvSpPr/>
          <p:nvPr/>
        </p:nvSpPr>
        <p:spPr>
          <a:xfrm>
            <a:off x="8610600" y="7029450"/>
            <a:ext cx="1066800" cy="106680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0600" y="7029450"/>
            <a:ext cx="1066800" cy="1066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3C9D6"/>
                </a:solidFill>
                <a:latin typeface="Arial"/>
              </a:rPr>
              <a:t>LOGO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2450" y="8210550"/>
            <a:ext cx="19431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AASTU ICT / Software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ICT &amp; Software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9563100"/>
            <a:ext cx="9067800" cy="9525"/>
          </a:xfrm>
          <a:prstGeom prst="rect">
            <a:avLst/>
          </a:prstGeom>
          <a:solidFill>
            <a:srgbClr val="334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600" y="9734550"/>
            <a:ext cx="609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3C9D6"/>
                </a:solidFill>
                <a:latin typeface="Arial"/>
              </a:rPr>
              <a:t>IIEH, AASTU   ·   Addis Ababa, Ethiopia   ·   June 23–24,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1250" y="9734550"/>
            <a:ext cx="34861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D9B555"/>
                </a:solidFill>
                <a:latin typeface="Arial"/>
              </a:rPr>
              <a:t>Innovation Without Commercialization is Just an Idea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10250" y="-3600450"/>
            <a:ext cx="8953500" cy="8953500"/>
          </a:xfrm>
          <a:prstGeom prst="ellipse">
            <a:avLst/>
          </a:prstGeom>
          <a:noFill/>
          <a:ln w="25400">
            <a:solidFill>
              <a:srgbClr val="2A3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8500" y="-2362200"/>
            <a:ext cx="6477000" cy="6477000"/>
          </a:xfrm>
          <a:prstGeom prst="ellipse">
            <a:avLst/>
          </a:prstGeom>
          <a:noFill/>
          <a:ln w="19050">
            <a:solidFill>
              <a:srgbClr val="2A3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39125" y="-1171575"/>
            <a:ext cx="4095750" cy="4095750"/>
          </a:xfrm>
          <a:prstGeom prst="ellipse">
            <a:avLst/>
          </a:prstGeom>
          <a:noFill/>
          <a:ln w="17780">
            <a:solidFill>
              <a:srgbClr val="C8A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287000" cy="83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1553441" cy="438150"/>
          </a:xfrm>
          <a:prstGeom prst="rect">
            <a:avLst/>
          </a:prstGeom>
        </p:spPr>
      </p:pic>
      <p:pic>
        <p:nvPicPr>
          <p:cNvPr id="8" name="Picture 7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163" y="266700"/>
            <a:ext cx="1576437" cy="36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29000" y="228600"/>
            <a:ext cx="3429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142145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C8A142"/>
                </a:solidFill>
                <a:latin typeface="Arial"/>
              </a:rPr>
              <a:t>NIF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838200"/>
            <a:ext cx="10287000" cy="38100"/>
          </a:xfrm>
          <a:prstGeom prst="rect">
            <a:avLst/>
          </a:prstGeom>
          <a:solidFill>
            <a:srgbClr val="C8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1428750"/>
            <a:ext cx="3333750" cy="381000"/>
          </a:xfrm>
          <a:prstGeom prst="roundRect">
            <a:avLst/>
          </a:prstGeom>
          <a:solidFill>
            <a:srgbClr val="C8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1428750"/>
            <a:ext cx="333375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01B3A"/>
                </a:solidFill>
                <a:latin typeface="Arial"/>
              </a:rPr>
              <a:t>DAY 2   ·   AWARDS &amp; CLOSING   ·   13:30–17:30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2019300"/>
            <a:ext cx="895350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700" b="1" i="0">
                <a:solidFill>
                  <a:srgbClr val="FFFFFF"/>
                </a:solidFill>
                <a:latin typeface="Arial"/>
              </a:rPr>
              <a:t>National Innovation
Awards &amp; Closing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5433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D9B555"/>
                </a:solidFill>
                <a:latin typeface="Arial"/>
              </a:rPr>
              <a:t>Certification · Awards · Strategic MoU Signing · Forum Declaration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3053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3C9D6"/>
                </a:solidFill>
                <a:latin typeface="Arial"/>
              </a:rPr>
              <a:t>Hosted by EDI &amp; AASTU Executive Leadership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743450"/>
            <a:ext cx="1047750" cy="38100"/>
          </a:xfrm>
          <a:prstGeom prst="rect">
            <a:avLst/>
          </a:prstGeom>
          <a:solidFill>
            <a:srgbClr val="C8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6572250"/>
            <a:ext cx="8572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9B555"/>
                </a:solidFill>
                <a:latin typeface="Arial"/>
              </a:rPr>
              <a:t>CLOSING PROGRAMME</a:t>
            </a:r>
          </a:p>
        </p:txBody>
      </p:sp>
      <p:sp>
        <p:nvSpPr>
          <p:cNvPr id="18" name="Oval 17"/>
          <p:cNvSpPr/>
          <p:nvPr/>
        </p:nvSpPr>
        <p:spPr>
          <a:xfrm>
            <a:off x="609600" y="7029450"/>
            <a:ext cx="1066800" cy="106680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450" y="8210550"/>
            <a:ext cx="19431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Forum Declaration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Resolutions</a:t>
            </a:r>
          </a:p>
        </p:txBody>
      </p:sp>
      <p:sp>
        <p:nvSpPr>
          <p:cNvPr id="20" name="Oval 19"/>
          <p:cNvSpPr/>
          <p:nvPr/>
        </p:nvSpPr>
        <p:spPr>
          <a:xfrm>
            <a:off x="2609850" y="7029450"/>
            <a:ext cx="1066800" cy="106680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71700" y="8210550"/>
            <a:ext cx="19431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Certification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Exhibitors &amp; Finalists</a:t>
            </a:r>
          </a:p>
        </p:txBody>
      </p:sp>
      <p:sp>
        <p:nvSpPr>
          <p:cNvPr id="22" name="Oval 21"/>
          <p:cNvSpPr/>
          <p:nvPr/>
        </p:nvSpPr>
        <p:spPr>
          <a:xfrm>
            <a:off x="4610100" y="7029450"/>
            <a:ext cx="1066800" cy="106680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71950" y="8210550"/>
            <a:ext cx="19431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Innovation Awards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Seed Grants</a:t>
            </a:r>
          </a:p>
        </p:txBody>
      </p:sp>
      <p:sp>
        <p:nvSpPr>
          <p:cNvPr id="24" name="Oval 23"/>
          <p:cNvSpPr/>
          <p:nvPr/>
        </p:nvSpPr>
        <p:spPr>
          <a:xfrm>
            <a:off x="6610350" y="7029450"/>
            <a:ext cx="1066800" cy="106680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8210550"/>
            <a:ext cx="19431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MoU Signing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Four Partners</a:t>
            </a:r>
          </a:p>
        </p:txBody>
      </p:sp>
      <p:sp>
        <p:nvSpPr>
          <p:cNvPr id="26" name="Oval 25"/>
          <p:cNvSpPr/>
          <p:nvPr/>
        </p:nvSpPr>
        <p:spPr>
          <a:xfrm>
            <a:off x="8610600" y="7029450"/>
            <a:ext cx="1066800" cy="1066800"/>
          </a:xfrm>
          <a:prstGeom prst="ellipse">
            <a:avLst/>
          </a:prstGeom>
          <a:solidFill>
            <a:srgbClr val="223055"/>
          </a:solidFill>
          <a:ln w="25400">
            <a:solidFill>
              <a:srgbClr val="D9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2450" y="8210550"/>
            <a:ext cx="19431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Closing &amp; Reception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9B555"/>
                </a:solidFill>
                <a:latin typeface="Arial"/>
              </a:rPr>
              <a:t>Networking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9563100"/>
            <a:ext cx="9067800" cy="9525"/>
          </a:xfrm>
          <a:prstGeom prst="rect">
            <a:avLst/>
          </a:prstGeom>
          <a:solidFill>
            <a:srgbClr val="334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9734550"/>
            <a:ext cx="609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3C9D6"/>
                </a:solidFill>
                <a:latin typeface="Arial"/>
              </a:rPr>
              <a:t>IIEH, AASTU   ·   Addis Ababa, Ethiopia   ·   June 23–24,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1250" y="9734550"/>
            <a:ext cx="34861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D9B555"/>
                </a:solidFill>
                <a:latin typeface="Arial"/>
              </a:rPr>
              <a:t>Innovation Without Commercialization is Just an Idea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