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OPENING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1  ·  JUNE 23, 2026  ·  08:30 – 10:30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1B2642"/>
                </a:solidFill>
                <a:latin typeface="Arial"/>
              </a:rPr>
              <a:t>Opening Plenary &amp;
Ministerial Keynote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“The National Innovation Ecosystem in Ethiopia: Gaps &amp; Horizons”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Moderated by Dr. Geremew &amp; Mr. Abebe Dutoro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PLENARY DIGNITARIES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H.E. Muferiat Kamil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Minister, MInT</a:t>
            </a:r>
          </a:p>
        </p:txBody>
      </p:sp>
      <p:sp>
        <p:nvSpPr>
          <p:cNvPr id="22" name="Oval 21"/>
          <p:cNvSpPr/>
          <p:nvPr/>
        </p:nvSpPr>
        <p:spPr>
          <a:xfrm>
            <a:off x="330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H.E. Belete Molla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Minister of Industry</a:t>
            </a:r>
          </a:p>
        </p:txBody>
      </p:sp>
      <p:sp>
        <p:nvSpPr>
          <p:cNvPr id="25" name="Oval 24"/>
          <p:cNvSpPr/>
          <p:nvPr/>
        </p:nvSpPr>
        <p:spPr>
          <a:xfrm>
            <a:off x="584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Dr. Abreham Debebe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AASTU</a:t>
            </a:r>
          </a:p>
        </p:txBody>
      </p:sp>
      <p:sp>
        <p:nvSpPr>
          <p:cNvPr id="28" name="Oval 27"/>
          <p:cNvSpPr/>
          <p:nvPr/>
        </p:nvSpPr>
        <p:spPr>
          <a:xfrm>
            <a:off x="838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Dr. Dereje Engida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EDI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7650"/>
            <a:ext cx="1553441" cy="438150"/>
          </a:xfrm>
          <a:prstGeom prst="rect">
            <a:avLst/>
          </a:prstGeom>
        </p:spPr>
      </p:pic>
      <p:pic>
        <p:nvPicPr>
          <p:cNvPr id="4" name="Picture 3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063" y="285750"/>
            <a:ext cx="1576437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29000" y="285750"/>
            <a:ext cx="3429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0287000" cy="2857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42975"/>
            <a:ext cx="4191000" cy="9344025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28750"/>
            <a:ext cx="3429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29A3A"/>
                </a:solidFill>
                <a:latin typeface="Arial"/>
              </a:rPr>
              <a:t>OPENING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6400"/>
            <a:ext cx="3429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8CDD6"/>
                </a:solidFill>
                <a:latin typeface="Arial"/>
              </a:rPr>
              <a:t>DAY 1  ·  JUNE 23, 2026  ·  08:30 – 10:30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14550"/>
            <a:ext cx="34290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Opening Plenary &amp;
Ministerial Keynote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05300"/>
            <a:ext cx="8572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14850"/>
            <a:ext cx="33337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1">
                <a:solidFill>
                  <a:srgbClr val="C8CDD6"/>
                </a:solidFill>
                <a:latin typeface="Arial"/>
              </a:rPr>
              <a:t>“The National Innovation Ecosystem in Ethiopia: Gaps &amp; Horizons”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19750"/>
            <a:ext cx="333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C8CDD6"/>
                </a:solidFill>
                <a:latin typeface="Arial"/>
              </a:rPr>
              <a:t>Moderated by Dr. Geremew &amp; Mr. Abebe Dutoro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334500"/>
            <a:ext cx="3429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⊙  Addis Ababa, Ethiopia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9582150"/>
            <a:ext cx="342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CDD6"/>
                </a:solidFill>
                <a:latin typeface="Arial"/>
              </a:rPr>
              <a:t>June 23–24, 2026   ·   Addis Ababa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906000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C8CDD6"/>
                </a:solidFill>
                <a:latin typeface="Arial"/>
              </a:rPr>
              <a:t>“Innovation is Just an Idea without Commercialization”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1428750"/>
            <a:ext cx="5143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642"/>
                </a:solidFill>
                <a:latin typeface="Arial"/>
              </a:rPr>
              <a:t>PLENARY DIGNITARIES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8200" y="1733550"/>
            <a:ext cx="666750" cy="2857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8200" y="2038350"/>
            <a:ext cx="742950" cy="742950"/>
          </a:xfrm>
          <a:prstGeom prst="ellipse">
            <a:avLst/>
          </a:prstGeom>
          <a:solidFill>
            <a:srgbClr val="EEF0F3"/>
          </a:solidFill>
          <a:ln w="12700">
            <a:solidFill>
              <a:srgbClr val="1421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8200" y="2038350"/>
            <a:ext cx="742950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0700" y="2200275"/>
            <a:ext cx="495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642"/>
                </a:solidFill>
                <a:latin typeface="Arial"/>
              </a:rPr>
              <a:t>H.E. Muferiat Kamil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29A3A"/>
                </a:solidFill>
                <a:latin typeface="Arial"/>
              </a:rPr>
              <a:t>Minister, MInT</a:t>
            </a:r>
          </a:p>
        </p:txBody>
      </p:sp>
      <p:sp>
        <p:nvSpPr>
          <p:cNvPr id="22" name="Oval 21"/>
          <p:cNvSpPr/>
          <p:nvPr/>
        </p:nvSpPr>
        <p:spPr>
          <a:xfrm>
            <a:off x="4648200" y="3467100"/>
            <a:ext cx="742950" cy="742950"/>
          </a:xfrm>
          <a:prstGeom prst="ellipse">
            <a:avLst/>
          </a:prstGeom>
          <a:solidFill>
            <a:srgbClr val="EEF0F3"/>
          </a:solidFill>
          <a:ln w="12700">
            <a:solidFill>
              <a:srgbClr val="1421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8200" y="3467100"/>
            <a:ext cx="742950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0700" y="3629025"/>
            <a:ext cx="495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642"/>
                </a:solidFill>
                <a:latin typeface="Arial"/>
              </a:rPr>
              <a:t>H.E. Belete Molla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29A3A"/>
                </a:solidFill>
                <a:latin typeface="Arial"/>
              </a:rPr>
              <a:t>Minister of Industry</a:t>
            </a:r>
          </a:p>
        </p:txBody>
      </p:sp>
      <p:sp>
        <p:nvSpPr>
          <p:cNvPr id="25" name="Oval 24"/>
          <p:cNvSpPr/>
          <p:nvPr/>
        </p:nvSpPr>
        <p:spPr>
          <a:xfrm>
            <a:off x="4648200" y="4895850"/>
            <a:ext cx="742950" cy="742950"/>
          </a:xfrm>
          <a:prstGeom prst="ellipse">
            <a:avLst/>
          </a:prstGeom>
          <a:solidFill>
            <a:srgbClr val="EEF0F3"/>
          </a:solidFill>
          <a:ln w="12700">
            <a:solidFill>
              <a:srgbClr val="1421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8200" y="4895850"/>
            <a:ext cx="742950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0700" y="5057775"/>
            <a:ext cx="495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642"/>
                </a:solidFill>
                <a:latin typeface="Arial"/>
              </a:rPr>
              <a:t>Dr. Abreham Debebe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29A3A"/>
                </a:solidFill>
                <a:latin typeface="Arial"/>
              </a:rPr>
              <a:t>AASTU</a:t>
            </a:r>
          </a:p>
        </p:txBody>
      </p:sp>
      <p:sp>
        <p:nvSpPr>
          <p:cNvPr id="28" name="Oval 27"/>
          <p:cNvSpPr/>
          <p:nvPr/>
        </p:nvSpPr>
        <p:spPr>
          <a:xfrm>
            <a:off x="4648200" y="6324600"/>
            <a:ext cx="742950" cy="742950"/>
          </a:xfrm>
          <a:prstGeom prst="ellipse">
            <a:avLst/>
          </a:prstGeom>
          <a:solidFill>
            <a:srgbClr val="EEF0F3"/>
          </a:solidFill>
          <a:ln w="12700">
            <a:solidFill>
              <a:srgbClr val="1421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8200" y="6324600"/>
            <a:ext cx="742950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0700" y="6486525"/>
            <a:ext cx="495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642"/>
                </a:solidFill>
                <a:latin typeface="Arial"/>
              </a:rPr>
              <a:t>Dr. Dereje Engida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29A3A"/>
                </a:solidFill>
                <a:latin typeface="Arial"/>
              </a:rPr>
              <a:t>EDI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THEME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1  ·  JUNE 23, 2026  ·  10:30 – 12:00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1B2642"/>
                </a:solidFill>
                <a:latin typeface="Arial"/>
              </a:rPr>
              <a:t>Breaking the
Valley of Death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“Financing University IP &amp; Technology Transfer Offices”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Moderated by Dr. Abraham Abebe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PANEL  ·  IP FINANCING &amp; ACADEMIA PIPELINE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Mr. Sinateyhu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EIPA · Dir. General</a:t>
            </a:r>
          </a:p>
        </p:txBody>
      </p:sp>
      <p:sp>
        <p:nvSpPr>
          <p:cNvPr id="22" name="Oval 21"/>
          <p:cNvSpPr/>
          <p:nvPr/>
        </p:nvSpPr>
        <p:spPr>
          <a:xfrm>
            <a:off x="27051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51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50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CBE Leadership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Dev. Financing</a:t>
            </a:r>
          </a:p>
        </p:txBody>
      </p:sp>
      <p:sp>
        <p:nvSpPr>
          <p:cNvPr id="25" name="Oval 24"/>
          <p:cNvSpPr/>
          <p:nvPr/>
        </p:nvSpPr>
        <p:spPr>
          <a:xfrm>
            <a:off x="46482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82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81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Ministry of Education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Higher-Ed Innovation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913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13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Dr. Solomon Kiros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African Union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43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Dr. Eleni Gebremedhin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BlueMoon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THEME 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1  ·  JUNE 23, 2026  ·  13:30 – 17:00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1B2642"/>
                </a:solidFill>
                <a:latin typeface="Arial"/>
              </a:rPr>
              <a:t>Fintech, Sandboxes
&amp; Digital Scale-ups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“Scale-up Regulations &amp; Venture Capital for the National Startup Act”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Moderated by Dr. Beakal Gizachew · Kifiya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PANEL  ·  FINTECH SANDBOX INTEGRATION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National Bank of Ethiopia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Financial Inclusion</a:t>
            </a:r>
          </a:p>
        </p:txBody>
      </p:sp>
      <p:sp>
        <p:nvSpPr>
          <p:cNvPr id="22" name="Oval 21"/>
          <p:cNvSpPr/>
          <p:nvPr/>
        </p:nvSpPr>
        <p:spPr>
          <a:xfrm>
            <a:off x="27051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51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50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Innovative Finance Lab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UNDP</a:t>
            </a:r>
          </a:p>
        </p:txBody>
      </p:sp>
      <p:sp>
        <p:nvSpPr>
          <p:cNvPr id="25" name="Oval 24"/>
          <p:cNvSpPr/>
          <p:nvPr/>
        </p:nvSpPr>
        <p:spPr>
          <a:xfrm>
            <a:off x="46482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82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81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Chapa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Exec Leadership</a:t>
            </a:r>
          </a:p>
        </p:txBody>
      </p:sp>
      <p:sp>
        <p:nvSpPr>
          <p:cNvPr id="28" name="Oval 27"/>
          <p:cNvSpPr/>
          <p:nvPr/>
        </p:nvSpPr>
        <p:spPr>
          <a:xfrm>
            <a:off x="65913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13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Arifpay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Exec Strategy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43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Kifiya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Corporate Tech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DAY 2 · MORNING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2  ·  JUNE 24, 2026  ·  09:00 – 12:00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1B2642"/>
                </a:solidFill>
                <a:latin typeface="Arial"/>
              </a:rPr>
              <a:t>National Startup
Pitch Competition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“8 Finalists · Grand Final Pitching Block &amp; National Innovation Awards”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Moderated by Eleni Teshome · Judges: EDI, AASTU, UNDP &amp; African VC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GRAND FINAL  ·  TRACK FINALISTS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Meftihe Fertilizer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Agri-Tech</a:t>
            </a:r>
          </a:p>
        </p:txBody>
      </p:sp>
      <p:sp>
        <p:nvSpPr>
          <p:cNvPr id="22" name="Oval 21"/>
          <p:cNvSpPr/>
          <p:nvPr/>
        </p:nvSpPr>
        <p:spPr>
          <a:xfrm>
            <a:off x="330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Markon Packaging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Manufacturing</a:t>
            </a:r>
          </a:p>
        </p:txBody>
      </p:sp>
      <p:sp>
        <p:nvSpPr>
          <p:cNvPr id="25" name="Oval 24"/>
          <p:cNvSpPr/>
          <p:nvPr/>
        </p:nvSpPr>
        <p:spPr>
          <a:xfrm>
            <a:off x="584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SATEV Group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Green Energy</a:t>
            </a:r>
          </a:p>
        </p:txBody>
      </p:sp>
      <p:sp>
        <p:nvSpPr>
          <p:cNvPr id="28" name="Oval 27"/>
          <p:cNvSpPr/>
          <p:nvPr/>
        </p:nvSpPr>
        <p:spPr>
          <a:xfrm>
            <a:off x="838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+ 5 Finalists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Tracks TBA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THEME THREE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2  ·  JUNE 24, 2026  ·  13:30 – 15:00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1B2642"/>
                </a:solidFill>
                <a:latin typeface="Arial"/>
              </a:rPr>
              <a:t>Innovation Diplomacy
&amp; Global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“Matching Local Frameworks with International Capital”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Moderated by Dr. Solomon · African Union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PANEL  ·  INNOVATION DIPLOMACY WORKING GROUP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Ministry of MInT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Tech Policy Dir.</a:t>
            </a:r>
          </a:p>
        </p:txBody>
      </p:sp>
      <p:sp>
        <p:nvSpPr>
          <p:cNvPr id="22" name="Oval 21"/>
          <p:cNvSpPr/>
          <p:nvPr/>
        </p:nvSpPr>
        <p:spPr>
          <a:xfrm>
            <a:off x="330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UNDP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Regional Enterprise</a:t>
            </a:r>
          </a:p>
        </p:txBody>
      </p:sp>
      <p:sp>
        <p:nvSpPr>
          <p:cNvPr id="25" name="Oval 24"/>
          <p:cNvSpPr/>
          <p:nvPr/>
        </p:nvSpPr>
        <p:spPr>
          <a:xfrm>
            <a:off x="584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GIZ Ethiopia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Private Sector</a:t>
            </a:r>
          </a:p>
        </p:txBody>
      </p:sp>
      <p:sp>
        <p:nvSpPr>
          <p:cNvPr id="28" name="Oval 27"/>
          <p:cNvSpPr/>
          <p:nvPr/>
        </p:nvSpPr>
        <p:spPr>
          <a:xfrm>
            <a:off x="838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Corporate Partner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Venture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CLOSING CEREMONY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2  ·  JUNE 24, 2026  ·  11:45 – 18:00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1B2642"/>
                </a:solidFill>
                <a:latin typeface="Arial"/>
              </a:rPr>
              <a:t>National Innovation
Awards &amp; Declaration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“Awards Ceremony · Strategic MoU Signing · Forum Declaration”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Hosted by EDI &amp; AASTU Executive Leadership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CLOSING PROGRAMME HIGHLIGHTS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Innovation Awards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Seed Grants</a:t>
            </a:r>
          </a:p>
        </p:txBody>
      </p:sp>
      <p:sp>
        <p:nvSpPr>
          <p:cNvPr id="22" name="Oval 21"/>
          <p:cNvSpPr/>
          <p:nvPr/>
        </p:nvSpPr>
        <p:spPr>
          <a:xfrm>
            <a:off x="330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MoU Signing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Four Partners</a:t>
            </a:r>
          </a:p>
        </p:txBody>
      </p:sp>
      <p:sp>
        <p:nvSpPr>
          <p:cNvPr id="25" name="Oval 24"/>
          <p:cNvSpPr/>
          <p:nvPr/>
        </p:nvSpPr>
        <p:spPr>
          <a:xfrm>
            <a:off x="584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Forum Declaration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Resolutions</a:t>
            </a:r>
          </a:p>
        </p:txBody>
      </p:sp>
      <p:sp>
        <p:nvSpPr>
          <p:cNvPr id="28" name="Oval 27"/>
          <p:cNvSpPr/>
          <p:nvPr/>
        </p:nvSpPr>
        <p:spPr>
          <a:xfrm>
            <a:off x="838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VIP Reception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Networking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