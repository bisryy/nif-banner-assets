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525000" cy="134683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00" cy="5143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435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4292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2954000"/>
            <a:ext cx="9525000" cy="5143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286827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289685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92542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96000" y="2381250"/>
            <a:ext cx="5334000" cy="5334000"/>
          </a:xfrm>
          <a:prstGeom prst="ellipse">
            <a:avLst/>
          </a:prstGeom>
          <a:noFill/>
          <a:ln w="3175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67500" y="2952750"/>
            <a:ext cx="4191000" cy="4191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as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14400"/>
            <a:ext cx="1958686" cy="552450"/>
          </a:xfrm>
          <a:prstGeom prst="rect">
            <a:avLst/>
          </a:prstGeom>
        </p:spPr>
      </p:pic>
      <p:pic>
        <p:nvPicPr>
          <p:cNvPr id="14" name="Picture 13" descr="ed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111" y="971550"/>
            <a:ext cx="1991289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2857500"/>
            <a:ext cx="8305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A6852E"/>
                </a:solidFill>
                <a:latin typeface="Arial"/>
              </a:rPr>
              <a:t>OFFICIAL PROGRAM  ·  VERSION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3276600"/>
            <a:ext cx="8305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5400" b="1" i="0">
                <a:solidFill>
                  <a:srgbClr val="16244A"/>
                </a:solidFill>
                <a:latin typeface="Arial"/>
              </a:rPr>
              <a:t>First National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848100"/>
            <a:ext cx="83058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5400" b="1" i="0">
                <a:solidFill>
                  <a:srgbClr val="16244A"/>
                </a:solidFill>
                <a:latin typeface="Arial"/>
              </a:rPr>
              <a:t>Innovation Forum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4629150"/>
            <a:ext cx="83058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A6852E"/>
                </a:solidFill>
                <a:latin typeface="Arial"/>
              </a:rPr>
              <a:t>NIF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95750" y="5295900"/>
            <a:ext cx="13335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600" y="5486400"/>
            <a:ext cx="83058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5C6370"/>
                </a:solidFill>
                <a:latin typeface="Arial"/>
              </a:rPr>
              <a:t>“Bridging Innovation, Policy, and Commercialization”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0600" y="6477000"/>
            <a:ext cx="7543800" cy="285750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0600" y="6477000"/>
            <a:ext cx="76200" cy="28575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67627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EVENT DATES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76600" y="67627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June 23–24,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72580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6600" y="72580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Industrial Innovation &amp; Entrepreneurship Hub (IIEH), AASTU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77533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HOST INSTITUTIONS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6600" y="77533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AASTU  ×  Entrepreneurship Development Institute (EDI)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82486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76600" y="82486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Bridging Innovation, Policy, and Commercialization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8743950"/>
            <a:ext cx="1714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A6852E"/>
                </a:solidFill>
                <a:latin typeface="Arial"/>
              </a:rPr>
              <a:t>FORMAT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76600" y="8743950"/>
            <a:ext cx="48768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0293B"/>
                </a:solidFill>
                <a:latin typeface="Arial"/>
              </a:rPr>
              <a:t>Hybrid  (In-Person &amp; Virtual)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9906000"/>
            <a:ext cx="83058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16244A"/>
                </a:solidFill>
                <a:latin typeface="Arial"/>
              </a:rPr>
              <a:t>Addis Ababa, Ethiopia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10229850"/>
            <a:ext cx="830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5C6370"/>
                </a:solidFill>
                <a:latin typeface="Arial"/>
              </a:rPr>
              <a:t>Official Program Rundown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76300"/>
            <a:ext cx="8305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4A"/>
                </a:solidFill>
                <a:latin typeface="Arial"/>
              </a:rPr>
              <a:t>Programme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314450"/>
            <a:ext cx="830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370"/>
                </a:solidFill>
                <a:latin typeface="Arial"/>
              </a:rPr>
              <a:t>Two days of policy, financing, investment, commercialization &amp; awards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600200"/>
            <a:ext cx="11430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8478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18097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Contents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217170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Day 1 — June 23: Policy &amp; Financing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4400" y="217170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050" y="240030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1050" y="249555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Day 2 — June 24: Investment, Commercialization &amp; Awards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4955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050" y="272415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050" y="281940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Appendix A — Panel Profiles &amp; Personalities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400" y="281940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050" y="304800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1050" y="3143250"/>
            <a:ext cx="75438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0293B"/>
                </a:solidFill>
                <a:latin typeface="Arial"/>
              </a:rPr>
              <a:t>Appendix B — Startup Ecosystem 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4400" y="3143250"/>
            <a:ext cx="381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A6852E"/>
                </a:solidFill>
                <a:latin typeface="Arial"/>
              </a:rPr>
              <a:t>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050" y="3371850"/>
            <a:ext cx="79629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36004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35623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Daily Themes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92430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" y="3924300"/>
            <a:ext cx="142875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950" y="392430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DAY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38350" y="401955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09800" y="40386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Policy &amp; Financing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9800" y="424815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Opening plenary, breaking the valley of death (university IP financing), and fintech regulatory sandboxes &amp; scale-ups.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9800" y="45720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June 23, 2026  ·  08:30 – 17:00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9600" y="48577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" y="4857750"/>
            <a:ext cx="142875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950" y="485775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DAY 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38350" y="495300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09800" y="4972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Investment, Commercialization &amp; Awards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09800" y="51816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National startup pitch competition &amp; AASTU model, certification, national innovation awards, MoU signing &amp; closing.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55054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June 24, 2026  ·  08:30 – 17:30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" y="57912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7429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66675" cy="7429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250" y="1009650"/>
            <a:ext cx="6210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Day 1 — Policy &amp; Financing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0400" y="1009650"/>
            <a:ext cx="171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29A3A"/>
                </a:solidFill>
                <a:latin typeface="Arial"/>
              </a:rPr>
              <a:t>June 23,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619250"/>
            <a:ext cx="8305800" cy="19050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1638300"/>
            <a:ext cx="8305800" cy="19050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1657350"/>
            <a:ext cx="8305800" cy="19050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188595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2000" y="184785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Opening Session  (Streamlined &amp; High-Impact)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13360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Moderator: Mr. Abebe Dutoro   ·   Allocated 1 h 40 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24193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24193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950" y="24193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08:30–09:00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38350" y="25146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09800" y="25336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Pre-Registration &amp; Networking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09800" y="27432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All Attendees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30480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30480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2950" y="30480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09:00–09:10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38350" y="31432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09800" y="31623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Welcoming Address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09800" y="33718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Dr. Abreham Debebe — Vice President, Research &amp; Technology Transfer, AASTU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36766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36766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600" y="36766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2950" y="36766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09:10–09:20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38350" y="37719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09800" y="37909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Opening Remark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09800" y="40005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Dr. Dereje Engida — President, AASTU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43053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9600" y="43053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2950" y="43053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09:20–09:30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38350" y="44005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09800" y="44196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Congratulatory Address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09800" y="46291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H.E. Muferiat Kamil — Ministry of Labour and Skills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9600" y="49339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9600" y="4933950"/>
            <a:ext cx="8305800" cy="7810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9600" y="49339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2950" y="49339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09:40–10:10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38350" y="50292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09800" y="50482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Forum Keynote Address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09800" y="52578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“The National Innovation Ecosystem in Ethiopia: Gaps and Horizons”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09800" y="54292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High-Level Policy Expert (EDI)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600" y="57150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9600" y="571500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9150" y="571500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10:10–10:30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28850" y="571500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Health Break &amp; Guided VIP Exhibition Tour — Minister (Guest of Honor), invited guests &amp; development partners tour the 20+ startup booths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9600" y="632460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000" y="628650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Theme One — Breaking the Valley of Death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2000" y="657225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Financing Universities’ Innovation Ecosystem   ·   Moderator: Dr. Abraham Abebe   ·   10:30 – 12:30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9600" y="685800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" y="68580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42950" y="68580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10:30–10:40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38350" y="69532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209800" y="69723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Context-Setting Briefing Session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09800" y="71818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Moderator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09600" y="74866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09600" y="74866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2950" y="74866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10:40–11:20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038350" y="75819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09800" y="76009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High-Level Panel Discussion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209800" y="78105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Panelists: Mr. Sinateyhu (EIPA, Dir. Gen.) · CBE Executive Leadership · Ministry of Education Lead · Dr. Solomon Kiros (AU) · Boru Shana (Deputy CEO, EDI) · Dr. Eleni Gabre-Madhin (BlueMoon)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09600" y="82677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09600" y="826770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09600" y="82677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42950" y="82677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11:20–11:40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038350" y="83629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209800" y="83820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Interactive Audience Q&amp;A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209800" y="85915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Open Floor Forum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09600" y="88963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09600" y="88963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42950" y="88963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11:40–12:00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38350" y="89916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209800" y="90106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Action Resolution Drafting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09800" y="92202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Formulating concrete outputs for university seed capital &amp; Technology Transfer Offices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09800" y="93916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 &amp; Delegate Rapporteurs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09600" y="9677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9600" y="967740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19150" y="967740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12:00–13:30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28850" y="967740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Networking Lunch Break — Exhibition Open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09600" y="1028700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62000" y="1024890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Theme Two — Fintech, Regulatory Sandboxes &amp; Scale-ups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2000" y="1053465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Innovation Scale-ups &amp; Commercialization   ·   Moderator: Dr. Beakal Gizachew (Kifiya Financial Technology PLC)   ·   13:30 – 16:30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9600" y="1082040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09600" y="108204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42950" y="108204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13:30–13:50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38350" y="109156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09800" y="109347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Sandbox to Market Framework Briefing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09800" y="111442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Moderator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09600" y="114490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09600" y="114490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42950" y="114490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13:50–14:40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038350" y="115443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209800" y="115633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Panel Discussion: Scale-up Regulations &amp; Venture Capital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209800" y="117729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Panelists: NBE Regulatory Framework Lead · Innovative Finance Lab (UNDP) · Innovator from AASTU · Ministry of Innovation · MIDROC Ethiopia · Tech Executive (Kifiya) · Hasab AI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09600" y="122301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38100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57150" cy="3810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" y="876300"/>
            <a:ext cx="79248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Day 1  (continued)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14287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14287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950" y="14287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14:40–15:00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8350" y="15240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09800" y="1543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Interactive Audience Q&amp;A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17526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Open Floor Forum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2057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205740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950" y="205740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15:00–15:20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38350" y="215265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09800" y="21717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Policy Matrix Formulation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9800" y="23812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Drafting sandbox regulatory adjustments for the National Startup 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09800" y="25527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Panelists &amp; Core Working Group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28384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283845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150" y="283845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15:20–16:00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8850" y="283845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Health Break &amp; Exhibition Networking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" y="333375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9600" y="3333750"/>
            <a:ext cx="142875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2950" y="333375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16:00–17:00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38350" y="342900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09800" y="3448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Investor &amp; Startup Matchmaking 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09800" y="365760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Structured speed-networking: 10 institutional investors meet 20 selected startups in 5-minute timed rotations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09800" y="39814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Coordinated by EDI Managers, Incubator Leads &amp; VC Partners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42672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38100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57150" cy="3810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" y="876300"/>
            <a:ext cx="79248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Day 1  (continued)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1428750"/>
            <a:ext cx="8305800" cy="74295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1428750"/>
            <a:ext cx="66675" cy="7429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250" y="1562100"/>
            <a:ext cx="62103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Day 2 — Investment, Commercialization &amp; Awards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0400" y="1562100"/>
            <a:ext cx="1714500" cy="4953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C29A3A"/>
                </a:solidFill>
                <a:latin typeface="Arial"/>
              </a:rPr>
              <a:t>June 24, 2026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2171700"/>
            <a:ext cx="8305800" cy="19050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" y="2190750"/>
            <a:ext cx="8305800" cy="19050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2209800"/>
            <a:ext cx="8305800" cy="19050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243840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240030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Morning — National Startup Pitch Competition &amp; AASTU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268605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Moderator: Emabet   ·   Allocated 4 h (08:30 – 12:30)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" y="297180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" y="29718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950" y="29718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08:30–09:00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38350" y="30670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09800" y="30861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Morning Registration &amp; Exhibition / Job Fair Tour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09800" y="32956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All Attendees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" y="36004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" y="36004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2950" y="36004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09:00–09:15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38350" y="36957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09800" y="37147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Day 2 Opening Remarks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9800" y="39243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AASTU President / EDI Leadership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42291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9600" y="422910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" y="4229100"/>
            <a:ext cx="142875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2950" y="422910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09:15–09:45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038350" y="432435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09800" y="43434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Feature Presentation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09800" y="455295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“AASTU Innovation &amp; Commercialization Model: Catalyzing Graduate Employment and Startup Ecosystem Growth”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09800" y="48768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AASTU Innovation Center (Felix Edesa)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600" y="51625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9600" y="51625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2950" y="51625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09:45–11:45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38350" y="52578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09800" y="52768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Grand Final Pitching Block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09800" y="54864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10 selected startups (5 internal AASTU + 5 external) · Format: 7-min pitch + 3-min Q&amp;A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09800" y="56578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10 Startup Founders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600" y="59436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9600" y="5943600"/>
            <a:ext cx="8305800" cy="7810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09600" y="594360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2950" y="594360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11:45–12:15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38350" y="603885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09800" y="60579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Judges Deliberation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09800" y="62674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Parallel: Innovation Success Story Showcase &amp; Job Fair Networking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209800" y="64389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Judges Panel Committee / Guest Ecosystem Speaker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67246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09600" y="67246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42950" y="67246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12:15–12:30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38350" y="68199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09800" y="68389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Announcement of Finalists &amp; Transition to Lunch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209800" y="70485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Session Moderator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" y="73533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9600" y="735330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9150" y="735330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12:30–13:30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228850" y="735330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Ecosystem Celebratory Lunch Break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9600" y="7962900"/>
            <a:ext cx="47625" cy="2286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62000" y="7924800"/>
            <a:ext cx="81534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6244A"/>
                </a:solidFill>
                <a:latin typeface="Arial"/>
              </a:rPr>
              <a:t>Afternoon — Certification, Awards &amp; Closing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2000" y="8210550"/>
            <a:ext cx="8153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5C6370"/>
                </a:solidFill>
                <a:latin typeface="Arial"/>
              </a:rPr>
              <a:t>Moderator: Dr. Solomon (AU)   ·   Allocated 3.5 h (13:30 – 17:00)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600" y="8496300"/>
            <a:ext cx="8305800" cy="9334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09600" y="8496300"/>
            <a:ext cx="142875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42950" y="8496300"/>
            <a:ext cx="1352550" cy="933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13:30–14:00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38350" y="8591550"/>
            <a:ext cx="9525" cy="7429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209800" y="86106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Presentation of the National Innovation Forum Declaration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209800" y="8820150"/>
            <a:ext cx="67056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Formal layout of actionable resolutions: university IP commercialization pipelines, sandbox rules &amp; tech scaling roadmaps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09800" y="91440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Lead Forum Rapporteurs, EDI Leadership &amp; AASTU Representatives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09600" y="94297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09600" y="94297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2950" y="94297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14:00–14:30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038350" y="95250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09800" y="9544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Certification Ceremony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09800" y="97536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Participation certificates to all exhibitors, pitch finalists &amp; panelists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09800" y="99250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Presiding Dignitaries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09600" y="102108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09600" y="10210800"/>
            <a:ext cx="8305800" cy="7810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09600" y="1021080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2950" y="1021080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14:30–15:15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038350" y="1030605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09800" y="103251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National Innovation Awards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209800" y="105346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Announcement of winners &amp; presentation of awards and seed-grant confirmations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09800" y="107061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Head Judge, EDI &amp; AASTU Leadership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9600" y="109918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09600" y="10991850"/>
            <a:ext cx="8305800" cy="438150"/>
          </a:xfrm>
          <a:prstGeom prst="rect">
            <a:avLst/>
          </a:prstGeom>
          <a:solidFill>
            <a:srgbClr val="F3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9150" y="10991850"/>
            <a:ext cx="190500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A6D1E"/>
                </a:solidFill>
                <a:latin typeface="Arial"/>
              </a:rPr>
              <a:t>15:15–15:30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228850" y="10991850"/>
            <a:ext cx="64960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8A6D1E"/>
                </a:solidFill>
                <a:latin typeface="Arial"/>
              </a:rPr>
              <a:t>Short Health Break &amp; Final Exhibition Visuals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9600" y="11487150"/>
            <a:ext cx="1428750" cy="781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2950" y="11487150"/>
            <a:ext cx="1352550" cy="7810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15:30–16:00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038350" y="11582400"/>
            <a:ext cx="9525" cy="5905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209800" y="116014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Strategic MoU Signing Session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209800" y="118110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1">
                <a:solidFill>
                  <a:srgbClr val="5C6370"/>
                </a:solidFill>
                <a:latin typeface="Arial"/>
              </a:rPr>
              <a:t>Execution of the Four Partners Ecosystem Matrix (Exhibition · Dev Partners · Finance · International)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209800" y="119824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Confirmed Institutional Signatories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09600" y="122682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38100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57150" cy="3810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" y="876300"/>
            <a:ext cx="79248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Day 2  (continued)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1428750"/>
            <a:ext cx="8305800" cy="62865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142875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950" y="142875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16:00–16:30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38350" y="152400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09800" y="154305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Official Closing Ceremony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9800" y="175260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Executive Leadership (EDI &amp; AASTU)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205740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2057400"/>
            <a:ext cx="1428750" cy="6286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950" y="2057400"/>
            <a:ext cx="1352550" cy="628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244A"/>
                </a:solidFill>
                <a:latin typeface="Arial"/>
              </a:rPr>
              <a:t>16:30–17:30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38350" y="2152650"/>
            <a:ext cx="9525" cy="43815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09800" y="2171700"/>
            <a:ext cx="6705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0293B"/>
                </a:solidFill>
                <a:latin typeface="Arial"/>
              </a:rPr>
              <a:t>VIP Networking &amp; Farewell Reception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9800" y="2381250"/>
            <a:ext cx="67056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A6852E"/>
                </a:solidFill>
                <a:latin typeface="Arial"/>
              </a:rPr>
              <a:t>All Dignitaries, Founders &amp; Registered Forum Attendants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2686050"/>
            <a:ext cx="8305800" cy="9525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876300"/>
            <a:ext cx="8305800" cy="381000"/>
          </a:xfrm>
          <a:prstGeom prst="rect">
            <a:avLst/>
          </a:prstGeom>
          <a:solidFill>
            <a:srgbClr val="162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876300"/>
            <a:ext cx="57150" cy="3810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50" y="876300"/>
            <a:ext cx="79248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Day 2  (continued)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428750"/>
            <a:ext cx="8305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4A"/>
                </a:solidFill>
                <a:latin typeface="Arial"/>
              </a:rPr>
              <a:t>Appendix A — Panel Profiles &amp; Personalities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866900"/>
            <a:ext cx="11430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20955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20764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Opening Session Plenary Dignitaries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24003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550" y="24003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Dr. Abreham Debebe — AASTU Representative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26098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550" y="26098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Dr. Dereje Engida — EDI Executive Leadership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050" y="28194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550" y="28194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H.E. Muferiat Kamil — Ministry of Innovation &amp;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050" y="30289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550" y="30289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H.E. Belete Molla — Ministry of Industry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050" y="32385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550" y="32385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High-Level Corporate &amp; Ecosystem Keynote Presenter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600" y="35814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000" y="35623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Theme One Panel — IP Financing &amp; Academia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050" y="38862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" y="38862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Mr. Sinateyhu — Director General, Ethiopian Intellectual Property Authority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050" y="40957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40957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Commercial Bank of Ethiopia (CBE) — Development Financing Team Lead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050" y="43053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550" y="43053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Ministry of Education (MoE) — Higher Education Innovation Director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050" y="45148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1550" y="45148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Dr. Solomon Kiros — African Union, Director of Innovation &amp; Engagement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050" y="47244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1550" y="47244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Dr. Eleni Gebremedhin — Ecosystem Pioneer &amp; Founder, BlueMoon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9600" y="50673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2000" y="50482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Theme Two Panel — Fintech Sandbox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1050" y="53721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1550" y="53721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National Bank of Ethiopia — NBE Financial Inclusion Framework Lead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050" y="55816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1550" y="55816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Innovative Finance Lab — UNDP Technical Lead Coordinator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050" y="57912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1550" y="57912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Chapa — Executive Leadership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050" y="600075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1550" y="600075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Arifpay — Executive Strategy Lead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1050" y="6210300"/>
            <a:ext cx="1524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1550" y="6210300"/>
            <a:ext cx="7886700" cy="1619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20293B"/>
                </a:solidFill>
                <a:latin typeface="Arial"/>
              </a:rPr>
              <a:t>Kifiya — Corporate Technology Representative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9600" y="65532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2000" y="65341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Judges Panel — Pitch Competition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" y="68580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150" y="68580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Head Judge — AASTU Innovation Center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7700" y="70485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9150" y="70485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UNDP Innovation Lead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700" y="72390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9150" y="72390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GIZ Private Sector Development Expert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7700" y="74295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9150" y="74295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Ministry of Industry Representative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0600" y="68580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72050" y="68580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Ministry of Education Innovation Director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0600" y="70485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72050" y="70485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African VC Ecosystem Fund Representative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00600" y="72390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72050" y="72390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EDI Commercialization Expert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00600" y="74295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72050" y="74295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Corporate Innovation Lead (MIDROC)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239000" y="-2095500"/>
            <a:ext cx="4953000" cy="4953000"/>
          </a:xfrm>
          <a:prstGeom prst="ellipse">
            <a:avLst/>
          </a:prstGeom>
          <a:noFill/>
          <a:ln w="25400">
            <a:solidFill>
              <a:srgbClr val="F4F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575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7150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3382625"/>
            <a:ext cx="9525000" cy="28575"/>
          </a:xfrm>
          <a:prstGeom prst="rect">
            <a:avLst/>
          </a:prstGeom>
          <a:solidFill>
            <a:srgbClr val="0789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411200"/>
            <a:ext cx="9525000" cy="28575"/>
          </a:xfrm>
          <a:prstGeom prst="rect">
            <a:avLst/>
          </a:prstGeom>
          <a:solidFill>
            <a:srgbClr val="E7C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3439775"/>
            <a:ext cx="9525000" cy="28575"/>
          </a:xfrm>
          <a:prstGeom prst="rect">
            <a:avLst/>
          </a:prstGeom>
          <a:solidFill>
            <a:srgbClr val="C22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13049250"/>
            <a:ext cx="7734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C6370"/>
                </a:solidFill>
                <a:latin typeface="Arial"/>
              </a:rPr>
              <a:t>First National Innovation Forum 2026   ·   Bridging Innovation, Policy &amp; Commercialization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3900" y="13049250"/>
            <a:ext cx="571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5C6370"/>
                </a:solidFill>
                <a:latin typeface="Arial"/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876300"/>
            <a:ext cx="83058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6244A"/>
                </a:solidFill>
                <a:latin typeface="Arial"/>
              </a:rPr>
              <a:t>Appendix B — Startup Ecosystem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314450"/>
            <a:ext cx="830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5C6370"/>
                </a:solidFill>
                <a:latin typeface="Arial"/>
              </a:rPr>
              <a:t>Open throughout both days · 08:30 to closing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1600200"/>
            <a:ext cx="1143000" cy="3810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18288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2000" y="18097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National Exhibition &amp; Job Fair Showcase  (10 enterprises)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2133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2133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Meftihe Natural Fertilizer Production PLC — Agri-Tech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23241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23241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Markon Packaging — Advanced Manufacturing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700" y="2514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150" y="2514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SATEV Group — Green Energy &amp; Sustainability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700" y="27051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150" y="27051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Fastpay — FinTech Enterprise Scaleup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700" y="2895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9150" y="2895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Zuraf — FinTech Digital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133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72050" y="2133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Lakipay — FinTech Point of Sale Systems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23241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72050" y="23241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Chapa — FinTech Infrastructure Gateway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514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2050" y="2514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Arifpay — FinTech Retail Payment Core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27051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72050" y="27051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Santim Pay — FinTech Consumer Wallet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28956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72050" y="28956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HASAB 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600" y="33147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32956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Pitch Finalist Tracks — Internal AASTU (5)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700" y="36195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150" y="36195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Meftihe Natural Fertilizer — Agri-Tech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700" y="38100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150" y="38100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AASTU Health-Tech Innovation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" y="40005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150" y="40005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Markon Packaging — Advanced Manufacturing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600" y="36195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72050" y="36195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SATEV Group — Green Energy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38100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72050" y="38100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AASTU ICT / Software Innovation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600" y="4381500"/>
            <a:ext cx="47625" cy="209550"/>
          </a:xfrm>
          <a:prstGeom prst="rect">
            <a:avLst/>
          </a:prstGeom>
          <a:solidFill>
            <a:srgbClr val="C2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2000" y="4362450"/>
            <a:ext cx="81534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6244A"/>
                </a:solidFill>
                <a:latin typeface="Arial"/>
              </a:rPr>
              <a:t>Pitch Finalist Tracks — External (5)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700" y="46863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9150" y="46863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External FinTech Representative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700" y="48768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150" y="48768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External Agri-Tech Representative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7700" y="50673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9150" y="50673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External Manufacturing Representative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0600" y="46863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72050" y="46863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External Green Energy Representative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00600" y="4876800"/>
            <a:ext cx="152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29A3A"/>
                </a:solidFill>
                <a:latin typeface="Arial"/>
              </a:rPr>
              <a:t>•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72050" y="4876800"/>
            <a:ext cx="37909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0293B"/>
                </a:solidFill>
                <a:latin typeface="Arial"/>
              </a:rPr>
              <a:t>External ICT / Software Representative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