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525000" cy="134683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00" cy="51435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435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292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2954000"/>
            <a:ext cx="9525000" cy="51435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286827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289685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92542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96000" y="2381250"/>
            <a:ext cx="5334000" cy="5334000"/>
          </a:xfrm>
          <a:prstGeom prst="ellipse">
            <a:avLst/>
          </a:prstGeom>
          <a:noFill/>
          <a:ln w="3175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67500" y="2952750"/>
            <a:ext cx="4191000" cy="4191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as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1958686" cy="552450"/>
          </a:xfrm>
          <a:prstGeom prst="rect">
            <a:avLst/>
          </a:prstGeom>
        </p:spPr>
      </p:pic>
      <p:pic>
        <p:nvPicPr>
          <p:cNvPr id="14" name="Picture 13" descr="e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111" y="971550"/>
            <a:ext cx="1991289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2857500"/>
            <a:ext cx="83058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A6852E"/>
                </a:solidFill>
                <a:latin typeface="Arial"/>
              </a:rPr>
              <a:t>OFFICIAL PROGRAM  ·  VERSION 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276600"/>
            <a:ext cx="8305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5400" b="1" i="0">
                <a:solidFill>
                  <a:srgbClr val="16244A"/>
                </a:solidFill>
                <a:latin typeface="Arial"/>
              </a:rPr>
              <a:t>First National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848100"/>
            <a:ext cx="8305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5400" b="1" i="0">
                <a:solidFill>
                  <a:srgbClr val="16244A"/>
                </a:solidFill>
                <a:latin typeface="Arial"/>
              </a:rPr>
              <a:t>Innovation Forum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629150"/>
            <a:ext cx="83058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A6852E"/>
                </a:solidFill>
                <a:latin typeface="Arial"/>
              </a:rPr>
              <a:t>NIF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95750" y="5295900"/>
            <a:ext cx="133350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5486400"/>
            <a:ext cx="8305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5C6370"/>
                </a:solidFill>
                <a:latin typeface="Arial"/>
              </a:rPr>
              <a:t>“Bridging Innovation, Policy, and Commercialization”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0600" y="6477000"/>
            <a:ext cx="7543800" cy="28575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90600" y="6477000"/>
            <a:ext cx="76200" cy="28575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6762750"/>
            <a:ext cx="1714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A6852E"/>
                </a:solidFill>
                <a:latin typeface="Arial"/>
              </a:rPr>
              <a:t>EVENT 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6600" y="6762750"/>
            <a:ext cx="487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93B"/>
                </a:solidFill>
                <a:latin typeface="Arial"/>
              </a:rPr>
              <a:t>June 23–24,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7258050"/>
            <a:ext cx="1714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A6852E"/>
                </a:solidFill>
                <a:latin typeface="Arial"/>
              </a:rPr>
              <a:t>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6600" y="7258050"/>
            <a:ext cx="487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93B"/>
                </a:solidFill>
                <a:latin typeface="Arial"/>
              </a:rPr>
              <a:t>Industrial Innovation &amp; Entrepreneurship Hub (IIEH), AASTU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7753350"/>
            <a:ext cx="1714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A6852E"/>
                </a:solidFill>
                <a:latin typeface="Arial"/>
              </a:rPr>
              <a:t>HOST INSTITUTIONS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6600" y="7753350"/>
            <a:ext cx="487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93B"/>
                </a:solidFill>
                <a:latin typeface="Arial"/>
              </a:rPr>
              <a:t>AASTU  ×  Entrepreneurship Development Institute (EDI)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8248650"/>
            <a:ext cx="1714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A6852E"/>
                </a:solidFill>
                <a:latin typeface="Arial"/>
              </a:rPr>
              <a:t>THEME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76600" y="8248650"/>
            <a:ext cx="487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93B"/>
                </a:solidFill>
                <a:latin typeface="Arial"/>
              </a:rPr>
              <a:t>Bridging Innovation, Policy, and Commercialization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8743950"/>
            <a:ext cx="1714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A6852E"/>
                </a:solidFill>
                <a:latin typeface="Arial"/>
              </a:rPr>
              <a:t>FORMAT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76600" y="8743950"/>
            <a:ext cx="487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93B"/>
                </a:solidFill>
                <a:latin typeface="Arial"/>
              </a:rPr>
              <a:t>Hybrid  (In-Person &amp; Virtual)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9906000"/>
            <a:ext cx="83058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6244A"/>
                </a:solidFill>
                <a:latin typeface="Arial"/>
              </a:rPr>
              <a:t>Addis Ababa, Ethiopia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10229850"/>
            <a:ext cx="830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C6370"/>
                </a:solidFill>
                <a:latin typeface="Arial"/>
              </a:rPr>
              <a:t>Official Program Rundown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2095500"/>
            <a:ext cx="4953000" cy="4953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57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38262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41120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43977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3049250"/>
            <a:ext cx="7734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Arial"/>
              </a:rPr>
              <a:t>First National Innovation Forum 2026   ·   Bridging Innovation, Policy &amp; Commercialization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130492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70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76300"/>
            <a:ext cx="83058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6244A"/>
                </a:solidFill>
                <a:latin typeface="Arial"/>
              </a:rPr>
              <a:t>Programme 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314450"/>
            <a:ext cx="830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370"/>
                </a:solidFill>
                <a:latin typeface="Arial"/>
              </a:rPr>
              <a:t>Two days of policy, financing, investment, commercialization &amp; awards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600200"/>
            <a:ext cx="114300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1847850"/>
            <a:ext cx="47625" cy="2286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1809750"/>
            <a:ext cx="81534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6244A"/>
                </a:solidFill>
                <a:latin typeface="Arial"/>
              </a:rPr>
              <a:t>Contents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50" y="2171700"/>
            <a:ext cx="75438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0293B"/>
                </a:solidFill>
                <a:latin typeface="Arial"/>
              </a:rPr>
              <a:t>Day 1 — June 23: Policy &amp; Financing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4400" y="2171700"/>
            <a:ext cx="381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A6852E"/>
                </a:solidFill>
                <a:latin typeface="Arial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050" y="2400300"/>
            <a:ext cx="79629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050" y="2495550"/>
            <a:ext cx="75438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0293B"/>
                </a:solidFill>
                <a:latin typeface="Arial"/>
              </a:rPr>
              <a:t>Day 2 — June 24: Investment, Commercialization &amp; Awards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495550"/>
            <a:ext cx="381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A6852E"/>
                </a:solidFill>
                <a:latin typeface="Arial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050" y="2724150"/>
            <a:ext cx="79629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050" y="2819400"/>
            <a:ext cx="75438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0293B"/>
                </a:solidFill>
                <a:latin typeface="Arial"/>
              </a:rPr>
              <a:t>Appendix A — Panel Profiles &amp; Personalities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400" y="2819400"/>
            <a:ext cx="381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A6852E"/>
                </a:solidFill>
                <a:latin typeface="Arial"/>
              </a:rPr>
              <a:t>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050" y="3048000"/>
            <a:ext cx="79629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050" y="3143250"/>
            <a:ext cx="75438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0293B"/>
                </a:solidFill>
                <a:latin typeface="Arial"/>
              </a:rPr>
              <a:t>Appendix B — Startup Ecosystem Registry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4400" y="3143250"/>
            <a:ext cx="381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A6852E"/>
                </a:solidFill>
                <a:latin typeface="Arial"/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050" y="3371850"/>
            <a:ext cx="79629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600" y="3600450"/>
            <a:ext cx="47625" cy="2286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0" y="3562350"/>
            <a:ext cx="81534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6244A"/>
                </a:solidFill>
                <a:latin typeface="Arial"/>
              </a:rPr>
              <a:t>Daily Themes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3924300"/>
            <a:ext cx="8305800" cy="9334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600" y="3924300"/>
            <a:ext cx="1428750" cy="933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2950" y="3924300"/>
            <a:ext cx="13525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DAY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38350" y="4019550"/>
            <a:ext cx="9525" cy="7429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09800" y="40386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Policy &amp; Financing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09800" y="4248150"/>
            <a:ext cx="67056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Opening plenary, breaking the valley of death (university IP financing), and fintech regulatory sandboxes &amp; scale-ups.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09800" y="45720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June 23, 2026  ·  08:30 – 17:00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600" y="48577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9600" y="4857750"/>
            <a:ext cx="1428750" cy="933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2950" y="4857750"/>
            <a:ext cx="13525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DAY 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38350" y="4953000"/>
            <a:ext cx="9525" cy="7429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09800" y="49720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Investment, Commercialization &amp; Awards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09800" y="5181600"/>
            <a:ext cx="67056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National startup pitch competition &amp; AASTU model, certification, national innovation awards, MoU signing &amp; closing.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09800" y="55054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June 24, 2026  ·  08:30 – 17:30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600" y="57912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2095500"/>
            <a:ext cx="4953000" cy="4953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57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38262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41120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43977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3049250"/>
            <a:ext cx="7734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Arial"/>
              </a:rPr>
              <a:t>First National Innovation Forum 2026   ·   Bridging Innovation, Policy &amp; Commercialization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130492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70"/>
                </a:solidFill>
                <a:latin typeface="Arial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876300"/>
            <a:ext cx="8305800" cy="74295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876300"/>
            <a:ext cx="66675" cy="7429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250" y="1009650"/>
            <a:ext cx="62103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Day 1 — Policy &amp; Financing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400" y="1009650"/>
            <a:ext cx="17145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C29A3A"/>
                </a:solidFill>
                <a:latin typeface="Arial"/>
              </a:rPr>
              <a:t>June 23,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1619250"/>
            <a:ext cx="8305800" cy="19050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1638300"/>
            <a:ext cx="8305800" cy="19050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1657350"/>
            <a:ext cx="8305800" cy="19050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" y="1885950"/>
            <a:ext cx="47625" cy="2286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1847850"/>
            <a:ext cx="81534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6244A"/>
                </a:solidFill>
                <a:latin typeface="Arial"/>
              </a:rPr>
              <a:t>Opening Session  (Streamlined &amp; High-Impact)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2133600"/>
            <a:ext cx="8153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370"/>
                </a:solidFill>
                <a:latin typeface="Arial"/>
              </a:rPr>
              <a:t>Moderator: Mr. Abebe Dutoro   ·   Allocated 1 h 40 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2419350"/>
            <a:ext cx="8305800" cy="6286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" y="241935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950" y="241935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08:30–09:00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38350" y="251460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09800" y="25336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Pre-Registration &amp; Networking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09800" y="27432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All Attendees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30480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600" y="304800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950" y="304800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09:00–09:10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38350" y="314325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09800" y="31623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Welcoming Address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09800" y="33718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Dr. Abreham Debebe — Vice President, Research &amp; Technology Transfer, AASTU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600" y="36766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9600" y="3676650"/>
            <a:ext cx="8305800" cy="6286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9600" y="367665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2950" y="367665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09:10–09:20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38350" y="377190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09800" y="37909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Opening Remark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09800" y="40005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Dr. Dereje Engida — President, AASTU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600" y="43053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9600" y="430530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2950" y="430530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09:20–09:30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38350" y="440055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09800" y="44196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Congratulatory Address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09800" y="46291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H.E. Muferiat Kamil — Ministry of Labour and Skills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600" y="49339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9600" y="4933950"/>
            <a:ext cx="8305800" cy="7810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9600" y="4933950"/>
            <a:ext cx="142875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2950" y="493395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09:40–10:10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38350" y="502920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09800" y="50482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Forum Keynote Address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09800" y="52578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“The National Innovation Ecosystem in Ethiopia: Gaps and Horizons”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09800" y="54292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High-Level Policy Expert (EDI)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9600" y="57150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09600" y="5715000"/>
            <a:ext cx="8305800" cy="438150"/>
          </a:xfrm>
          <a:prstGeom prst="rect">
            <a:avLst/>
          </a:prstGeom>
          <a:solidFill>
            <a:srgbClr val="F3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9150" y="5715000"/>
            <a:ext cx="19050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6D1E"/>
                </a:solidFill>
                <a:latin typeface="Arial"/>
              </a:rPr>
              <a:t>10:10–10:30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28850" y="5715000"/>
            <a:ext cx="64960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A6D1E"/>
                </a:solidFill>
                <a:latin typeface="Arial"/>
              </a:rPr>
              <a:t>Health Break &amp; Guided VIP Exhibition Tour — Minister (Guest of Honor), invited guests &amp; development partners tour the 20+ startup booths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9600" y="6324600"/>
            <a:ext cx="47625" cy="2286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2000" y="6286500"/>
            <a:ext cx="81534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6244A"/>
                </a:solidFill>
                <a:latin typeface="Arial"/>
              </a:rPr>
              <a:t>Theme One — Breaking the Valley of Death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2000" y="6572250"/>
            <a:ext cx="8153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370"/>
                </a:solidFill>
                <a:latin typeface="Arial"/>
              </a:rPr>
              <a:t>Financing Universities’ Innovation Ecosystem   ·   Moderator: Dr. Abraham Abebe   ·   10:30 – 12:30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9600" y="6858000"/>
            <a:ext cx="8305800" cy="6286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" y="685800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2950" y="685800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10:30–10:40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38350" y="695325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209800" y="69723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Context-Setting Briefing Session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09800" y="71818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Moderator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9600" y="74866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09600" y="7486650"/>
            <a:ext cx="142875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2950" y="748665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10:40–11:20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038350" y="758190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09800" y="76009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High-Level Panel Discussion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09800" y="7810500"/>
            <a:ext cx="67056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Panelists: Mr. Sinateyhu (EIPA, Dir. Gen.) · CBE Executive Leadership · Ministry of Education Lead · Dr. Solomon Kiros (AU) · Boru Shana (Deputy CEO, EDI) · Dr. Eleni Gabre-Madhin (BlueMoon)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9600" y="82677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9600" y="8267700"/>
            <a:ext cx="8305800" cy="6286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09600" y="826770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2950" y="826770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11:20–11:40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38350" y="836295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209800" y="83820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Interactive Audience Q&amp;A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09800" y="85915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Open Floor Forum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9600" y="88963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09600" y="8896350"/>
            <a:ext cx="142875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2950" y="889635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11:40–12:00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38350" y="899160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209800" y="90106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Action Resolution Drafting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209800" y="92202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Formulating concrete outputs for university seed capital &amp; Technology Transfer Offices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209800" y="93916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Panelists &amp; Delegate Rapporteurs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09600" y="96774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09600" y="9677400"/>
            <a:ext cx="8305800" cy="438150"/>
          </a:xfrm>
          <a:prstGeom prst="rect">
            <a:avLst/>
          </a:prstGeom>
          <a:solidFill>
            <a:srgbClr val="F3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19150" y="9677400"/>
            <a:ext cx="19050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6D1E"/>
                </a:solidFill>
                <a:latin typeface="Arial"/>
              </a:rPr>
              <a:t>12:00–13:30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28850" y="9677400"/>
            <a:ext cx="64960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A6D1E"/>
                </a:solidFill>
                <a:latin typeface="Arial"/>
              </a:rPr>
              <a:t>Networking Lunch Break — Exhibition Open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9600" y="10287000"/>
            <a:ext cx="47625" cy="2286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62000" y="10248900"/>
            <a:ext cx="81534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6244A"/>
                </a:solidFill>
                <a:latin typeface="Arial"/>
              </a:rPr>
              <a:t>Theme Two — Fintech, Regulatory Sandboxes &amp; Scale-ups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62000" y="10534650"/>
            <a:ext cx="8153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370"/>
                </a:solidFill>
                <a:latin typeface="Arial"/>
              </a:rPr>
              <a:t>Innovation Scale-ups &amp; Commercialization   ·   Moderator: Dr. Beakal Gizachew (Kifiya Financial Technology PLC)   ·   13:30 – 16:30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09600" y="10820400"/>
            <a:ext cx="8305800" cy="6286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09600" y="1082040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42950" y="1082040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13:30–13:50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038350" y="1091565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209800" y="109347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Sandbox to Market Framework Briefing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209800" y="111442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Moderator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09600" y="114490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09600" y="11449050"/>
            <a:ext cx="142875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42950" y="1144905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13:50–14:40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038350" y="1154430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209800" y="115633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Panel Discussion: Scale-up Regulations &amp; Venture Capital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209800" y="11772900"/>
            <a:ext cx="67056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Panelists: NBE Regulatory Framework Lead · Innovative Finance Lab (UNDP) · Innovator from AASTU · Ministry of Innovation · MIDROC Ethiopia · Tech Executive (Kifiya) · Hasab AI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9600" y="122301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2095500"/>
            <a:ext cx="4953000" cy="4953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57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38262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41120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43977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3049250"/>
            <a:ext cx="7734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Arial"/>
              </a:rPr>
              <a:t>First National Innovation Forum 2026   ·   Bridging Innovation, Policy &amp; Commercialization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130492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70"/>
                </a:solidFill>
                <a:latin typeface="Arial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876300"/>
            <a:ext cx="8305800" cy="38100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876300"/>
            <a:ext cx="57150" cy="3810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150" y="876300"/>
            <a:ext cx="79248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Day 1  (continued)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1428750"/>
            <a:ext cx="8305800" cy="6286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142875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950" y="142875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14:40–15:00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38350" y="152400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09800" y="15430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Interactive Audience Q&amp;A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9800" y="17526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Open Floor Forum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20574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2057400"/>
            <a:ext cx="142875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950" y="205740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15:00–15:20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38350" y="215265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09800" y="21717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Policy Matrix Formulation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09800" y="23812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Drafting sandbox regulatory adjustments for the National Startup 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09800" y="25527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Panelists &amp; Core Working Group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28384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600" y="2838450"/>
            <a:ext cx="8305800" cy="438150"/>
          </a:xfrm>
          <a:prstGeom prst="rect">
            <a:avLst/>
          </a:prstGeom>
          <a:solidFill>
            <a:srgbClr val="F3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150" y="2838450"/>
            <a:ext cx="19050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6D1E"/>
                </a:solidFill>
                <a:latin typeface="Arial"/>
              </a:rPr>
              <a:t>15:20–16:00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28850" y="2838450"/>
            <a:ext cx="64960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A6D1E"/>
                </a:solidFill>
                <a:latin typeface="Arial"/>
              </a:rPr>
              <a:t>Health Break &amp; Exhibition Networking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3333750"/>
            <a:ext cx="8305800" cy="9334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9600" y="3333750"/>
            <a:ext cx="1428750" cy="933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2950" y="3333750"/>
            <a:ext cx="13525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16:00–17:00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38350" y="3429000"/>
            <a:ext cx="9525" cy="7429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09800" y="34480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Investor &amp; Startup Matchmaking Session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09800" y="3657600"/>
            <a:ext cx="67056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Structured speed-networking: 10 institutional investors meet 20 selected startups in 5-minute timed rotations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09800" y="39814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Coordinated by EDI Managers, Incubator Leads &amp; VC Partners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600" y="42672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2095500"/>
            <a:ext cx="4953000" cy="4953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57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38262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41120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43977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3049250"/>
            <a:ext cx="7734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Arial"/>
              </a:rPr>
              <a:t>First National Innovation Forum 2026   ·   Bridging Innovation, Policy &amp; Commercialization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130492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70"/>
                </a:solidFill>
                <a:latin typeface="Arial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876300"/>
            <a:ext cx="8305800" cy="74295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876300"/>
            <a:ext cx="66675" cy="7429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250" y="1009650"/>
            <a:ext cx="62103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Day 2 — Investment, Commercialization &amp; Awards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400" y="1009650"/>
            <a:ext cx="17145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C29A3A"/>
                </a:solidFill>
                <a:latin typeface="Arial"/>
              </a:rPr>
              <a:t>June 24,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1619250"/>
            <a:ext cx="8305800" cy="19050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1638300"/>
            <a:ext cx="8305800" cy="19050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1657350"/>
            <a:ext cx="8305800" cy="19050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" y="1885950"/>
            <a:ext cx="47625" cy="2286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1847850"/>
            <a:ext cx="81534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6244A"/>
                </a:solidFill>
                <a:latin typeface="Arial"/>
              </a:rPr>
              <a:t>Morning — National Startup Pitch Competition &amp; AASTU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2133600"/>
            <a:ext cx="8153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370"/>
                </a:solidFill>
                <a:latin typeface="Arial"/>
              </a:rPr>
              <a:t>Moderator: Emabet   ·   Allocated 4 h (08:30 – 12:30)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2419350"/>
            <a:ext cx="8305800" cy="6286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" y="241935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950" y="241935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08:30–09:00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38350" y="251460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09800" y="25336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Morning Registration &amp; Exhibition / Job Fair Tour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09800" y="27432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All Attendees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30480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600" y="304800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950" y="304800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09:00–09:15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38350" y="314325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09800" y="31623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Day 2 Opening Remarks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09800" y="33718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AASTU President / EDI Leadership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600" y="36766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9600" y="3676650"/>
            <a:ext cx="8305800" cy="9334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9600" y="3676650"/>
            <a:ext cx="1428750" cy="933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2950" y="3676650"/>
            <a:ext cx="13525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09:15–09:45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38350" y="3771900"/>
            <a:ext cx="9525" cy="7429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09800" y="37909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Feature Presentation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09800" y="4000500"/>
            <a:ext cx="67056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“AASTU Innovation &amp; Commercialization Model: Catalyzing Graduate Employment and Startup Ecosystem Growth”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09800" y="43243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AASTU Innovation Center (Felix Edesa)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600" y="46101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9600" y="4610100"/>
            <a:ext cx="142875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2950" y="461010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09:45–11:45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38350" y="470535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09800" y="47244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Grand Final Pitching Block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09800" y="49339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10 selected startups (5 internal AASTU + 5 external) · Format: 7-min pitch + 3-min Q&amp;A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09800" y="51054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10 Startup Founders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600" y="53911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9600" y="5391150"/>
            <a:ext cx="8305800" cy="7810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9600" y="5391150"/>
            <a:ext cx="142875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2950" y="539115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11:45–12:15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38350" y="548640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09800" y="55054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Judges Deliberation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09800" y="57150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Parallel: Innovation Success Story Showcase &amp; Job Fair Networking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09800" y="58864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Judges Panel Committee / Guest Ecosystem Speaker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9600" y="61722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09600" y="617220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2950" y="617220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12:15–12:30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38350" y="626745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09800" y="62865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Announcement of Finalists &amp; Transition to Lunch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09800" y="64960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Session Moderator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9600" y="68008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" y="6800850"/>
            <a:ext cx="8305800" cy="438150"/>
          </a:xfrm>
          <a:prstGeom prst="rect">
            <a:avLst/>
          </a:prstGeom>
          <a:solidFill>
            <a:srgbClr val="F3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9150" y="6800850"/>
            <a:ext cx="19050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6D1E"/>
                </a:solidFill>
                <a:latin typeface="Arial"/>
              </a:rPr>
              <a:t>12:30–13:30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28850" y="6800850"/>
            <a:ext cx="64960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A6D1E"/>
                </a:solidFill>
                <a:latin typeface="Arial"/>
              </a:rPr>
              <a:t>Ecosystem Celebratory Lunch Break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9600" y="7410450"/>
            <a:ext cx="47625" cy="2286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2000" y="7372350"/>
            <a:ext cx="81534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6244A"/>
                </a:solidFill>
                <a:latin typeface="Arial"/>
              </a:rPr>
              <a:t>Afternoon — Certification, Awards &amp; Closing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2000" y="7658100"/>
            <a:ext cx="8153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370"/>
                </a:solidFill>
                <a:latin typeface="Arial"/>
              </a:rPr>
              <a:t>Moderator: Dr. Solomon (AU)   ·   Allocated 3.5 h (13:30 – 17:00)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9600" y="7943850"/>
            <a:ext cx="8305800" cy="9334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9600" y="7943850"/>
            <a:ext cx="1428750" cy="933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2950" y="7943850"/>
            <a:ext cx="13525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13:30–14:00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038350" y="8039100"/>
            <a:ext cx="9525" cy="7429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209800" y="80581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Presentation of the National Innovation Forum Declaration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09800" y="8267700"/>
            <a:ext cx="67056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Formal layout of actionable resolutions: university IP commercialization pipelines, sandbox rules &amp; tech scaling roadmaps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09800" y="85915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Lead Forum Rapporteurs, EDI Leadership &amp; AASTU Representatives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9600" y="88773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09600" y="8877300"/>
            <a:ext cx="142875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42950" y="887730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14:00–14:30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038350" y="897255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209800" y="89916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Certification Ceremony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09800" y="92011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Participation certificates to all exhibitors, pitch finalists &amp; panelists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209800" y="93726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Presiding Dignitaries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09600" y="96583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09600" y="9658350"/>
            <a:ext cx="8305800" cy="7810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09600" y="9658350"/>
            <a:ext cx="142875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2950" y="965835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14:30–15:15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38350" y="975360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209800" y="97726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National Innovation Awards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209800" y="99822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Announcement of winners &amp; presentation of awards and seed-grant confirmations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09800" y="101536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Head Judge, EDI &amp; AASTU Leadership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9600" y="104394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09600" y="10439400"/>
            <a:ext cx="8305800" cy="438150"/>
          </a:xfrm>
          <a:prstGeom prst="rect">
            <a:avLst/>
          </a:prstGeom>
          <a:solidFill>
            <a:srgbClr val="F3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19150" y="10439400"/>
            <a:ext cx="19050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6D1E"/>
                </a:solidFill>
                <a:latin typeface="Arial"/>
              </a:rPr>
              <a:t>15:15–15:30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28850" y="10439400"/>
            <a:ext cx="64960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A6D1E"/>
                </a:solidFill>
                <a:latin typeface="Arial"/>
              </a:rPr>
              <a:t>Short Health Break &amp; Final Exhibition Visuals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9600" y="10934700"/>
            <a:ext cx="142875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42950" y="1093470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15:30–16:00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038350" y="1102995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209800" y="110490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Strategic MoU Signing Session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209800" y="112585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Execution of the Four Partners Ecosystem Matrix (Exhibition · Dev Partners · Finance · International)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209800" y="114300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Confirmed Institutional Signatories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09600" y="117157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09600" y="11715750"/>
            <a:ext cx="8305800" cy="6286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09600" y="1171575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42950" y="1171575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16:00–16:30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038350" y="1181100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209800" y="118300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Official Closing Ceremony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209800" y="120396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Executive Leadership (EDI &amp; AASTU)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09600" y="123444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2095500"/>
            <a:ext cx="4953000" cy="4953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57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38262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41120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43977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3049250"/>
            <a:ext cx="7734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Arial"/>
              </a:rPr>
              <a:t>First National Innovation Forum 2026   ·   Bridging Innovation, Policy &amp; Commercialization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130492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70"/>
                </a:solidFill>
                <a:latin typeface="Arial"/>
              </a:rP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876300"/>
            <a:ext cx="8305800" cy="38100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876300"/>
            <a:ext cx="57150" cy="3810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150" y="876300"/>
            <a:ext cx="79248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Day 2  (continued)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142875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950" y="142875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16:30–17:30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38350" y="152400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09800" y="15430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VIP Networking &amp; Farewell Reception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09800" y="17526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All Dignitaries, Founders &amp; Registered Forum Attendants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20574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2095500"/>
            <a:ext cx="4953000" cy="4953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57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38262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41120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43977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3049250"/>
            <a:ext cx="7734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Arial"/>
              </a:rPr>
              <a:t>First National Innovation Forum 2026   ·   Bridging Innovation, Policy &amp; Commercialization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130492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70"/>
                </a:solidFill>
                <a:latin typeface="Arial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76300"/>
            <a:ext cx="83058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6244A"/>
                </a:solidFill>
                <a:latin typeface="Arial"/>
              </a:rPr>
              <a:t>Appendix A — Panel Profiles &amp; Personalities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1314450"/>
            <a:ext cx="114300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1543050"/>
            <a:ext cx="47625" cy="2095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1524000"/>
            <a:ext cx="81534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44A"/>
                </a:solidFill>
                <a:latin typeface="Arial"/>
              </a:rPr>
              <a:t>Opening Session Plenary Dignitaries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50" y="184785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84785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Dr. Abreham Debebe — AASTU Representative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0" y="205740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550" y="205740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Dr. Dereje Engida — EDI Executive Leadership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226695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550" y="226695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H.E. Muferiat Kamil — Ministry of Innovation &amp; Technology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50" y="247650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550" y="247650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H.E. Belete Molla — Ministry of Industry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050" y="268605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550" y="268605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High-Level Corporate &amp; Ecosystem Keynote Presenter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3028950"/>
            <a:ext cx="47625" cy="2095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000" y="3009900"/>
            <a:ext cx="81534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44A"/>
                </a:solidFill>
                <a:latin typeface="Arial"/>
              </a:rPr>
              <a:t>Theme One Panel — IP Financing &amp; Academia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050" y="333375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550" y="333375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Mr. Sinateyhu — Director General, Ethiopian Intellectual Property Authority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050" y="354330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550" y="354330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Commercial Bank of Ethiopia (CBE) — Development Financing Team Lead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050" y="375285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550" y="375285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Ministry of Education (MoE) — Higher Education Innovation Director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050" y="396240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550" y="396240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Dr. Solomon Kiros — African Union, Director of Innovation &amp; Engagement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050" y="417195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550" y="417195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Dr. Eleni Gebremedhin — Ecosystem Pioneer &amp; Founder, BlueMoon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600" y="4514850"/>
            <a:ext cx="47625" cy="2095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2000" y="4495800"/>
            <a:ext cx="81534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44A"/>
                </a:solidFill>
                <a:latin typeface="Arial"/>
              </a:rPr>
              <a:t>Theme Two Panel — Fintech Sandbox Integration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050" y="481965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1550" y="481965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National Bank of Ethiopia — NBE Financial Inclusion Framework Lead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050" y="502920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1550" y="502920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Innovative Finance Lab — UNDP Technical Lead Coordinator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050" y="523875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550" y="523875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Chapa — Executive Leadership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050" y="544830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1550" y="544830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Arifpay — Executive Strategy Lead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050" y="565785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1550" y="565785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Kifiya — Corporate Technology Representative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600" y="6000750"/>
            <a:ext cx="47625" cy="2095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2000" y="5981700"/>
            <a:ext cx="81534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44A"/>
                </a:solidFill>
                <a:latin typeface="Arial"/>
              </a:rPr>
              <a:t>Judges Panel — Pitch Competition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7700" y="630555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9150" y="630555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Head Judge — AASTU Innovation Center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700" y="649605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150" y="649605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UNDP Innovation Lead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7700" y="668655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9150" y="668655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GIZ Private Sector Development Expert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7700" y="687705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150" y="687705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Ministry of Industry Representative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00600" y="630555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72050" y="630555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Ministry of Education Innovation Director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00600" y="649605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72050" y="649605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African VC Ecosystem Fund Representative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00600" y="668655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72050" y="668655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EDI Commercialization Expert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00600" y="687705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72050" y="687705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Corporate Innovation Lead (MIDROC)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2095500"/>
            <a:ext cx="4953000" cy="4953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57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38262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41120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43977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3049250"/>
            <a:ext cx="7734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Arial"/>
              </a:rPr>
              <a:t>First National Innovation Forum 2026   ·   Bridging Innovation, Policy &amp; Commercialization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130492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70"/>
                </a:solidFill>
                <a:latin typeface="Arial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76300"/>
            <a:ext cx="83058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6244A"/>
                </a:solidFill>
                <a:latin typeface="Arial"/>
              </a:rPr>
              <a:t>Appendix B — Startup Ecosystem Registry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314450"/>
            <a:ext cx="830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370"/>
                </a:solidFill>
                <a:latin typeface="Arial"/>
              </a:rPr>
              <a:t>Open throughout both days · 08:30 to closing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600200"/>
            <a:ext cx="114300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1828800"/>
            <a:ext cx="47625" cy="2095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1809750"/>
            <a:ext cx="81534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44A"/>
                </a:solidFill>
                <a:latin typeface="Arial"/>
              </a:rPr>
              <a:t>National Exhibition &amp; Job Fair Showcase  (10 enterprises)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21336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21336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Meftihe Natural Fertilizer Production PLC — Agri-Tech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23241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" y="23241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Markon Packaging — Advanced Manufacturing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25146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50" y="25146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SATEV Group — Green Energy &amp; Sustainability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27051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50" y="27051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Fastpay — FinTech Enterprise Scaleup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28956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150" y="28956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Zuraf — FinTech Digital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21336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72050" y="21336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Lakipay — FinTech Point of Sale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23241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72050" y="23241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Chapa — FinTech Infrastructure Gateway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25146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72050" y="25146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Arifpay — FinTech Retail Payment 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27051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72050" y="27051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Santim Pay — FinTech Consumer Wallet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28956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72050" y="28956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HASAB AI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" y="3314700"/>
            <a:ext cx="47625" cy="2095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000" y="3295650"/>
            <a:ext cx="81534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44A"/>
                </a:solidFill>
                <a:latin typeface="Arial"/>
              </a:rPr>
              <a:t>Pitch Finalist Tracks — Internal AASTU (5)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" y="36195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150" y="36195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Meftihe Natural Fertilizer — Agri-Tech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" y="38100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150" y="38100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AASTU Health-Tech Innovation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700" y="40005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150" y="40005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Markon Packaging — Advanced Manufacturing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00600" y="36195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72050" y="36195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SATEV Group — Green Energy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600" y="38100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72050" y="38100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AASTU ICT / Software Innovation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600" y="4381500"/>
            <a:ext cx="47625" cy="2095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2000" y="4362450"/>
            <a:ext cx="81534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44A"/>
                </a:solidFill>
                <a:latin typeface="Arial"/>
              </a:rPr>
              <a:t>Pitch Finalist Tracks — External (5)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700" y="46863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9150" y="46863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External FinTech Representative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700" y="48768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9150" y="48768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External Agri-Tech Representative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700" y="50673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9150" y="50673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External Manufacturing Representative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00600" y="46863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72050" y="46863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External Green Energy Representative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00600" y="48768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72050" y="48768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External ICT / Software Representative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