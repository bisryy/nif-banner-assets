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OPENING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08:30 – 10:30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1B2642"/>
                </a:solidFill>
                <a:latin typeface="Arial"/>
              </a:rPr>
              <a:t>Opening Plenary &amp;
Ministerial Keynote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Geremew &amp; Mr. Abebe Dutoro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PLENARY DIGNITARIES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Minister, MInT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Minister of Industry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AASTU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476500" y="7810500"/>
            <a:ext cx="4953000" cy="49530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09750" y="8477250"/>
            <a:ext cx="3619500" cy="36195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43000" y="9144000"/>
            <a:ext cx="2286000" cy="2286000"/>
          </a:xfrm>
          <a:prstGeom prst="ellipse">
            <a:avLst/>
          </a:prstGeom>
          <a:noFill/>
          <a:ln w="9525">
            <a:solidFill>
              <a:srgbClr val="A6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287000" cy="14287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28750"/>
            <a:ext cx="10287000" cy="57150"/>
          </a:xfrm>
          <a:prstGeom prst="rect">
            <a:avLst/>
          </a:prstGeom>
          <a:solidFill>
            <a:srgbClr val="A6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361950"/>
            <a:ext cx="2190750" cy="70485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495300"/>
            <a:ext cx="1553441" cy="4381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15250" y="361950"/>
            <a:ext cx="2190750" cy="70485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504825"/>
            <a:ext cx="1742378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67000" y="381000"/>
            <a:ext cx="495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A6852E"/>
                </a:solidFill>
                <a:latin typeface="Arial"/>
              </a:rPr>
              <a:t>NIF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2250" y="1885950"/>
            <a:ext cx="4762500" cy="476250"/>
          </a:xfrm>
          <a:prstGeom prst="round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0" y="1885950"/>
            <a:ext cx="4762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DAY 1  ·  JUNE 23, 2026  ·  08:30 – 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552700"/>
            <a:ext cx="8572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6852E"/>
                </a:solidFill>
                <a:latin typeface="Arial"/>
              </a:rPr>
              <a:t>OPENING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71800"/>
            <a:ext cx="895350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6244A"/>
                </a:solidFill>
                <a:latin typeface="Arial"/>
              </a:rPr>
              <a:t>Opening Plenary &amp; Ministerial Keynote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76750"/>
            <a:ext cx="80010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0" i="1">
                <a:solidFill>
                  <a:srgbClr val="A6852E"/>
                </a:solidFill>
                <a:latin typeface="Arial"/>
              </a:rPr>
              <a:t>“The National Innovation Ecosystem in Ethiopia: Gaps &amp; Horizons”</a:t>
            </a:r>
          </a:p>
        </p:txBody>
      </p:sp>
      <p:sp>
        <p:nvSpPr>
          <p:cNvPr id="18" name="Oval 17"/>
          <p:cNvSpPr/>
          <p:nvPr/>
        </p:nvSpPr>
        <p:spPr>
          <a:xfrm>
            <a:off x="85725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H.E. Muferiat Kamil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Minister, MInT</a:t>
            </a:r>
          </a:p>
        </p:txBody>
      </p:sp>
      <p:sp>
        <p:nvSpPr>
          <p:cNvPr id="21" name="Oval 20"/>
          <p:cNvSpPr/>
          <p:nvPr/>
        </p:nvSpPr>
        <p:spPr>
          <a:xfrm>
            <a:off x="323850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850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H.E. Belete Molla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Minister of Industry</a:t>
            </a:r>
          </a:p>
        </p:txBody>
      </p:sp>
      <p:sp>
        <p:nvSpPr>
          <p:cNvPr id="24" name="Oval 23"/>
          <p:cNvSpPr/>
          <p:nvPr/>
        </p:nvSpPr>
        <p:spPr>
          <a:xfrm>
            <a:off x="561975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975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Dr. Abreham Debebe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AASTU</a:t>
            </a:r>
          </a:p>
        </p:txBody>
      </p:sp>
      <p:sp>
        <p:nvSpPr>
          <p:cNvPr id="27" name="Oval 26"/>
          <p:cNvSpPr/>
          <p:nvPr/>
        </p:nvSpPr>
        <p:spPr>
          <a:xfrm>
            <a:off x="8001000" y="5619750"/>
            <a:ext cx="1428750" cy="1428750"/>
          </a:xfrm>
          <a:prstGeom prst="ellipse">
            <a:avLst/>
          </a:prstGeom>
          <a:solidFill>
            <a:srgbClr val="F2F3F5"/>
          </a:solidFill>
          <a:ln w="15875">
            <a:solidFill>
              <a:srgbClr val="1624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61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9C"/>
                </a:solidFill>
                <a:latin typeface="Arial"/>
              </a:rPr>
              <a:t>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7162800"/>
            <a:ext cx="2190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6244A"/>
                </a:solidFill>
                <a:latin typeface="Arial"/>
              </a:rPr>
              <a:t>Dr. Dereje Engida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6852E"/>
                </a:solidFill>
                <a:latin typeface="Arial"/>
              </a:rPr>
              <a:t>EDI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9334500"/>
            <a:ext cx="10287000" cy="9525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277350"/>
            <a:ext cx="10287000" cy="57150"/>
          </a:xfrm>
          <a:prstGeom prst="rect">
            <a:avLst/>
          </a:prstGeom>
          <a:solidFill>
            <a:srgbClr val="A6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" y="9334500"/>
            <a:ext cx="3429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⊙  Addis Ababa, Ethiopia</a:t>
            </a:r>
          </a:p>
          <a:p>
            <a:pPr algn="l"/>
            <a:r>
              <a:rPr sz="1100" b="0" i="0">
                <a:solidFill>
                  <a:srgbClr val="F2F3F5"/>
                </a:solidFill>
                <a:latin typeface="Arial"/>
              </a:rPr>
              <a:t>June 23–24,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3500" y="9334500"/>
            <a:ext cx="47625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1">
                <a:solidFill>
                  <a:srgbClr val="A6852E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10:30 – 12:00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B2642"/>
                </a:solidFill>
                <a:latin typeface="Arial"/>
              </a:rPr>
              <a:t>Breaking the
Valley of Death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“Financing University IP &amp; Technology Transfer Offices”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Abraham Abebe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IP FINANCING &amp; ACADEMIA PIPELINE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Mr. Sinateyhu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EIPA · Dir. General</a:t>
            </a:r>
          </a:p>
        </p:txBody>
      </p:sp>
      <p:sp>
        <p:nvSpPr>
          <p:cNvPr id="22" name="Oval 21"/>
          <p:cNvSpPr/>
          <p:nvPr/>
        </p:nvSpPr>
        <p:spPr>
          <a:xfrm>
            <a:off x="27051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51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50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CBE Leadership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Dev. Financing</a:t>
            </a:r>
          </a:p>
        </p:txBody>
      </p:sp>
      <p:sp>
        <p:nvSpPr>
          <p:cNvPr id="25" name="Oval 24"/>
          <p:cNvSpPr/>
          <p:nvPr/>
        </p:nvSpPr>
        <p:spPr>
          <a:xfrm>
            <a:off x="46482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82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1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Ministry of Education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Higher-Ed Innovation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13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13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Solomon Kiros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African Union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43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Dr. Eleni Gebremedhin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BlueMoon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1  ·  JUNE 23, 2026  ·  13:30 – 17:00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1B2642"/>
                </a:solidFill>
                <a:latin typeface="Arial"/>
              </a:rPr>
              <a:t>Fintech, Sandboxes
&amp; Digital Scale-ups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“Scale-up Regulations &amp; Venture Capital for the National Startup Act”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Beakal Gizachew · Kifiya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FINTECH SANDBOX INTEGRATION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National Bank of Ethiopia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Financial Inclusion</a:t>
            </a:r>
          </a:p>
        </p:txBody>
      </p:sp>
      <p:sp>
        <p:nvSpPr>
          <p:cNvPr id="22" name="Oval 21"/>
          <p:cNvSpPr/>
          <p:nvPr/>
        </p:nvSpPr>
        <p:spPr>
          <a:xfrm>
            <a:off x="27051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51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50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Innovative Finance Lab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UNDP</a:t>
            </a:r>
          </a:p>
        </p:txBody>
      </p:sp>
      <p:sp>
        <p:nvSpPr>
          <p:cNvPr id="25" name="Oval 24"/>
          <p:cNvSpPr/>
          <p:nvPr/>
        </p:nvSpPr>
        <p:spPr>
          <a:xfrm>
            <a:off x="46482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82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1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Chapa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Exec Leadership</a:t>
            </a:r>
          </a:p>
        </p:txBody>
      </p:sp>
      <p:sp>
        <p:nvSpPr>
          <p:cNvPr id="28" name="Oval 27"/>
          <p:cNvSpPr/>
          <p:nvPr/>
        </p:nvSpPr>
        <p:spPr>
          <a:xfrm>
            <a:off x="65913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13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Arifpay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Exec Strategy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7372350"/>
            <a:ext cx="990600" cy="9906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0" y="7372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4350" y="8458200"/>
            <a:ext cx="1790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Kifiya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Corporate Tech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DAY 2 · MORNING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09:00 – 12:00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1B2642"/>
                </a:solidFill>
                <a:latin typeface="Arial"/>
              </a:rPr>
              <a:t>National Startup
Pitch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“8 Finalists · Grand Final Pitching Block &amp; National Innovation Awards”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Eleni Teshome · Judges: EDI, AASTU, UNDP &amp; African VC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GRAND FINAL  ·  TRACK FINALISTS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Meftihe Fertilizer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Agri-Tech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Markon Packaging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Manufacturing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SATEV Group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Green Energy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+ 5 Finalists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Tracks TBA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THEME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13:30 – 15:00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1B2642"/>
                </a:solidFill>
                <a:latin typeface="Arial"/>
              </a:rPr>
              <a:t>Innovation Diplomacy
&amp; Global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“Matching Local Frameworks with International Capital”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Moderated by Dr. Solomon · African Union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PANEL  ·  INNOVATION DIPLOMACY WORKING GROUP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Ministry of MInT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Tech Policy Dir.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UNDP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Regional Enterprise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GIZ Ethiopia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Private Sector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Corporate Partner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Venture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1714500"/>
            <a:ext cx="4381500" cy="4381500"/>
          </a:xfrm>
          <a:prstGeom prst="ellipse">
            <a:avLst/>
          </a:prstGeom>
          <a:noFill/>
          <a:ln w="25400">
            <a:solidFill>
              <a:srgbClr val="EE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9100"/>
            <a:ext cx="1688523" cy="476250"/>
          </a:xfrm>
          <a:prstGeom prst="rect">
            <a:avLst/>
          </a:prstGeom>
        </p:spPr>
      </p:pic>
      <p:pic>
        <p:nvPicPr>
          <p:cNvPr id="5" name="Picture 4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92" y="476250"/>
            <a:ext cx="1659408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438150"/>
            <a:ext cx="3429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642"/>
                </a:solidFill>
                <a:latin typeface="Arial"/>
              </a:rPr>
              <a:t>FIRST NATIONAL INNOVATION FORUM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29A3A"/>
                </a:solidFill>
                <a:latin typeface="Arial"/>
              </a:rPr>
              <a:t>NIF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04900"/>
            <a:ext cx="9144000" cy="1905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790700"/>
            <a:ext cx="57150" cy="16002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7335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9A3A"/>
                </a:solidFill>
                <a:latin typeface="Arial"/>
              </a:rPr>
              <a:t>CLOSING CEREMONY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98120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Arial"/>
              </a:rPr>
              <a:t>DAY 2  ·  JUNE 24, 2026  ·  11:45 – 18:00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24100"/>
            <a:ext cx="8858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1B2642"/>
                </a:solidFill>
                <a:latin typeface="Arial"/>
              </a:rPr>
              <a:t>National Innovation
Awards &amp; Declaration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86200"/>
            <a:ext cx="8286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1">
                <a:solidFill>
                  <a:srgbClr val="6B7280"/>
                </a:solidFill>
                <a:latin typeface="Arial"/>
              </a:rPr>
              <a:t>“Awards Ceremony · Strategic MoU Signing · Forum Declaration”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642"/>
                </a:solidFill>
                <a:latin typeface="Arial"/>
              </a:rPr>
              <a:t>Hosted by EDI &amp; AASTU Executive 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" y="5067300"/>
            <a:ext cx="104775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5257800"/>
            <a:ext cx="8286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Arial"/>
              </a:rPr>
              <a:t>⊙  Addis Ababa, Ethiopia    ·    June 23–24,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67500"/>
            <a:ext cx="10287000" cy="3619500"/>
          </a:xfrm>
          <a:prstGeom prst="rect">
            <a:avLst/>
          </a:prstGeom>
          <a:solidFill>
            <a:srgbClr val="14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67500"/>
            <a:ext cx="10287000" cy="47625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0"/>
            <a:ext cx="762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CLOSING PROGRAMME HIGHLIGHTS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Innovation Awards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Seed Grants</a:t>
            </a:r>
          </a:p>
        </p:txBody>
      </p:sp>
      <p:sp>
        <p:nvSpPr>
          <p:cNvPr id="22" name="Oval 21"/>
          <p:cNvSpPr/>
          <p:nvPr/>
        </p:nvSpPr>
        <p:spPr>
          <a:xfrm>
            <a:off x="330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MoU Signing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Four Partners</a:t>
            </a:r>
          </a:p>
        </p:txBody>
      </p:sp>
      <p:sp>
        <p:nvSpPr>
          <p:cNvPr id="25" name="Oval 24"/>
          <p:cNvSpPr/>
          <p:nvPr/>
        </p:nvSpPr>
        <p:spPr>
          <a:xfrm>
            <a:off x="584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Forum Declaration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Resolutions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7372350"/>
            <a:ext cx="1143000" cy="1143000"/>
          </a:xfrm>
          <a:prstGeom prst="ellipse">
            <a:avLst/>
          </a:prstGeom>
          <a:solidFill>
            <a:srgbClr val="223157"/>
          </a:solidFill>
          <a:ln w="13970">
            <a:solidFill>
              <a:srgbClr val="C29A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737235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8CDD6"/>
                </a:solidFill>
                <a:latin typeface="Arial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0" y="8610600"/>
            <a:ext cx="209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VIP Reception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29A3A"/>
                </a:solidFill>
                <a:latin typeface="Arial"/>
              </a:rPr>
              <a:t>Networking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9867900"/>
            <a:ext cx="876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8CDD6"/>
                </a:solidFill>
                <a:latin typeface="Arial"/>
              </a:rPr>
              <a:t>“Innovation Without Commercialization is Just an Idea”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